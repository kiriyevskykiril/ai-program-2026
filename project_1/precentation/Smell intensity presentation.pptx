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1"/>
  </p:notesMasterIdLst>
  <p:sldIdLst>
    <p:sldId id="256" r:id="rId2"/>
    <p:sldId id="257" r:id="rId3"/>
    <p:sldId id="274" r:id="rId4"/>
    <p:sldId id="258" r:id="rId5"/>
    <p:sldId id="264" r:id="rId6"/>
    <p:sldId id="259" r:id="rId7"/>
    <p:sldId id="268" r:id="rId8"/>
    <p:sldId id="271" r:id="rId9"/>
    <p:sldId id="270" r:id="rId10"/>
    <p:sldId id="265" r:id="rId11"/>
    <p:sldId id="267" r:id="rId12"/>
    <p:sldId id="272" r:id="rId13"/>
    <p:sldId id="263" r:id="rId14"/>
    <p:sldId id="275" r:id="rId15"/>
    <p:sldId id="278" r:id="rId16"/>
    <p:sldId id="276" r:id="rId17"/>
    <p:sldId id="277" r:id="rId18"/>
    <p:sldId id="260" r:id="rId19"/>
    <p:sldId id="266" r:id="rId20"/>
  </p:sldIdLst>
  <p:sldSz cx="12192000" cy="6858000"/>
  <p:notesSz cx="6858000" cy="9144000"/>
  <p:defaultTextStyle>
    <a:defPPr>
      <a:defRPr lang="LID4096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9D7B26C5-4107-4FEC-AEDC-1716B250A1EF}" styleName="Light Style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8731" autoAdjust="0"/>
    <p:restoredTop sz="82160" autoAdjust="0"/>
  </p:normalViewPr>
  <p:slideViewPr>
    <p:cSldViewPr snapToGrid="0">
      <p:cViewPr>
        <p:scale>
          <a:sx n="75" d="100"/>
          <a:sy n="75" d="100"/>
        </p:scale>
        <p:origin x="1732" y="38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notesMaster" Target="notesMasters/notesMaster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LID4096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F4B3431-D7CA-4884-BBC8-551033F4B8B0}" type="datetimeFigureOut">
              <a:rPr lang="LID4096" smtClean="0"/>
              <a:t>06/23/2026</a:t>
            </a:fld>
            <a:endParaRPr lang="LID4096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LID4096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LID4096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F081A42-54A3-4E6D-AAAD-815597063FD7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5818673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3" Type="http://schemas.openxmlformats.org/officeDocument/2006/relationships/hyperlink" Target="https://scikit-learn.org/stable/modules/generated/sklearn.gaussian_process.GaussianProcessRegressor.html" TargetMode="External"/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Relationship Id="rId4" Type="http://schemas.openxmlformats.org/officeDocument/2006/relationships/hyperlink" Target="https://scikit-learn.org/stable/modules/generated/sklearn.ensemble.VotingClassifier.html#sklearn.ensemble.VotingClassifier" TargetMode="Externa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TY  - JOURT1  - Method for Predicting Odor Intensity of Perfumery Raw Materials Using Dose–Response Curve </a:t>
            </a:r>
            <a:r>
              <a:rPr lang="en-US" dirty="0" err="1"/>
              <a:t>DatabaseAU</a:t>
            </a:r>
            <a:r>
              <a:rPr lang="en-US" dirty="0"/>
              <a:t>  - Wakayama, </a:t>
            </a:r>
            <a:r>
              <a:rPr lang="en-US" dirty="0" err="1"/>
              <a:t>HidekiAU</a:t>
            </a:r>
            <a:r>
              <a:rPr lang="en-US" dirty="0"/>
              <a:t>  - </a:t>
            </a:r>
            <a:r>
              <a:rPr lang="en-US" dirty="0" err="1"/>
              <a:t>Sakasai</a:t>
            </a:r>
            <a:r>
              <a:rPr lang="en-US" dirty="0"/>
              <a:t>, </a:t>
            </a:r>
            <a:r>
              <a:rPr lang="en-US" dirty="0" err="1"/>
              <a:t>MitsuyoshiAU</a:t>
            </a:r>
            <a:r>
              <a:rPr lang="en-US" dirty="0"/>
              <a:t>  - Yoshikawa, </a:t>
            </a:r>
            <a:r>
              <a:rPr lang="en-US" dirty="0" err="1"/>
              <a:t>KeiichiAU</a:t>
            </a:r>
            <a:r>
              <a:rPr lang="en-US" dirty="0"/>
              <a:t>  - Inoue, MichiakiY1  - 2019/08/14PY  - 2019DA  - 2019/08/14N1  - </a:t>
            </a:r>
            <a:r>
              <a:rPr lang="en-US" dirty="0" err="1"/>
              <a:t>doi</a:t>
            </a:r>
            <a:r>
              <a:rPr lang="en-US" dirty="0"/>
              <a:t>: 10.1021/acs.iecr.9b01225DO  - 10.1021/acs.iecr.9b01225T2  - Industrial &amp; Engineering Chemistry </a:t>
            </a:r>
            <a:r>
              <a:rPr lang="en-US" dirty="0" err="1"/>
              <a:t>ResearchJF</a:t>
            </a:r>
            <a:r>
              <a:rPr lang="en-US" dirty="0"/>
              <a:t>  - Industrial &amp; Engineering Chemistry </a:t>
            </a:r>
            <a:r>
              <a:rPr lang="en-US" dirty="0" err="1"/>
              <a:t>ResearchJO</a:t>
            </a:r>
            <a:r>
              <a:rPr lang="en-US" dirty="0"/>
              <a:t>  - Ind. Eng. Chem. </a:t>
            </a:r>
            <a:r>
              <a:rPr lang="en-US" dirty="0" err="1"/>
              <a:t>Res.SP</a:t>
            </a:r>
            <a:r>
              <a:rPr lang="en-US" dirty="0"/>
              <a:t>  - 15036EP  - 15044VL  - 58IS  - 32PB  - American Chemical </a:t>
            </a:r>
            <a:r>
              <a:rPr lang="en-US" dirty="0" err="1"/>
              <a:t>SocietySN</a:t>
            </a:r>
            <a:r>
              <a:rPr lang="en-US" dirty="0"/>
              <a:t>  - 0888-5885M3  - </a:t>
            </a:r>
            <a:r>
              <a:rPr lang="en-US" dirty="0" err="1"/>
              <a:t>doi</a:t>
            </a:r>
            <a:r>
              <a:rPr lang="en-US" dirty="0"/>
              <a:t>: 10.1021/acs.iecr.9b01225UR  - https://doi.org/10.1021/acs.iecr.9b01225</a:t>
            </a:r>
            <a:endParaRPr lang="LID4096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F081A42-54A3-4E6D-AAAD-815597063FD7}" type="slidenum">
              <a:rPr lang="LID4096" smtClean="0"/>
              <a:t>2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412167009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" dirty="0"/>
              <a:t>Each dot represents the average score of one evaluator. The box shows the middle 50% of evaluators, and σ shows the standard deviation between evaluators. For several conditions, σ is around 8–13 LMS units, supporting MAE ≈ 8 LMS as a reasonable target for model performance.</a:t>
            </a:r>
            <a:endParaRPr lang="LID4096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F081A42-54A3-4E6D-AAAD-815597063FD7}" type="slidenum">
              <a:rPr lang="LID4096" smtClean="0"/>
              <a:t>4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776948734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LID4096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F081A42-54A3-4E6D-AAAD-815597063FD7}" type="slidenum">
              <a:rPr lang="LID4096" smtClean="0"/>
              <a:t>7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004632284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MAE less sensitive for </a:t>
            </a:r>
            <a:r>
              <a:rPr lang="en-US" dirty="0" err="1"/>
              <a:t>outlayers</a:t>
            </a:r>
            <a:endParaRPr lang="en-US" dirty="0"/>
          </a:p>
          <a:p>
            <a:r>
              <a:rPr lang="" dirty="0"/>
              <a:t>subsample=0.8, Percentage of rows used to build each tree.</a:t>
            </a:r>
          </a:p>
          <a:p>
            <a:r>
              <a:rPr lang="" dirty="0"/>
              <a:t>colsample_bytree=1.0 Percentage of features used by each tree.</a:t>
            </a:r>
            <a:endParaRPr lang="LID4096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F081A42-54A3-4E6D-AAAD-815597063FD7}" type="slidenum">
              <a:rPr lang="LID4096" smtClean="0"/>
              <a:t>8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121189618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" dirty="0"/>
              <a:t>For a presentation slide, I would keep it high-level and connect the descriptors to molecular properties rather than Dragon terminology.</a:t>
            </a:r>
          </a:p>
          <a:p>
            <a:r>
              <a:rPr lang="" b="1" dirty="0"/>
              <a:t>Key Molecular Properties Identified by XGBoost</a:t>
            </a:r>
          </a:p>
          <a:p>
            <a:r>
              <a:rPr lang="" b="1" dirty="0"/>
              <a:t>Strongly represented descriptor groups</a:t>
            </a:r>
            <a:endParaRPr lang="" dirty="0"/>
          </a:p>
          <a:p>
            <a:r>
              <a:rPr lang="" b="1" dirty="0"/>
              <a:t>3D molecular shape and geometry</a:t>
            </a:r>
            <a:endParaRPr lang="" dirty="0"/>
          </a:p>
          <a:p>
            <a:pPr lvl="1"/>
            <a:r>
              <a:rPr lang="" dirty="0"/>
              <a:t>MoRSE descriptors (MorXX)</a:t>
            </a:r>
          </a:p>
          <a:p>
            <a:pPr lvl="1"/>
            <a:r>
              <a:rPr lang="" dirty="0"/>
              <a:t>RDF descriptors (RDFXXX)</a:t>
            </a:r>
          </a:p>
          <a:p>
            <a:pPr lvl="1"/>
            <a:r>
              <a:rPr lang="" dirty="0"/>
              <a:t>GETAWAY descriptors (Hx, Rx)</a:t>
            </a:r>
          </a:p>
          <a:p>
            <a:pPr lvl="1"/>
            <a:r>
              <a:rPr lang="" dirty="0"/>
              <a:t>Suggests odor intensity strongly depends on how atoms are arranged in three-dimensional space.</a:t>
            </a:r>
          </a:p>
          <a:p>
            <a:r>
              <a:rPr lang="" b="1" dirty="0"/>
              <a:t>Molecular size and bulk</a:t>
            </a:r>
            <a:endParaRPr lang="" dirty="0"/>
          </a:p>
          <a:p>
            <a:pPr lvl="1"/>
            <a:r>
              <a:rPr lang="" dirty="0"/>
              <a:t>Vindex, Am, Gm, VAR</a:t>
            </a:r>
          </a:p>
          <a:p>
            <a:pPr lvl="1"/>
            <a:r>
              <a:rPr lang="" dirty="0"/>
              <a:t>Indicates that larger and more complex molecules tend to exhibit different maximum odor intensities than smaller molecules.</a:t>
            </a:r>
          </a:p>
          <a:p>
            <a:r>
              <a:rPr lang="" b="1" dirty="0"/>
              <a:t>Electronic structure and charge distribution</a:t>
            </a:r>
            <a:endParaRPr lang="" dirty="0"/>
          </a:p>
          <a:p>
            <a:pPr lvl="1"/>
            <a:r>
              <a:rPr lang="" dirty="0"/>
              <a:t>GGI, JGI, ATSCe, MATSe descriptors</a:t>
            </a:r>
          </a:p>
          <a:p>
            <a:pPr lvl="1"/>
            <a:r>
              <a:rPr lang="" dirty="0"/>
              <a:t>Captures electronegativity patterns, charge transfer, and electron distribution within the molecule.</a:t>
            </a:r>
          </a:p>
          <a:p>
            <a:r>
              <a:rPr lang="" b="1" dirty="0"/>
              <a:t>Branching and topological complexity</a:t>
            </a:r>
            <a:endParaRPr lang="" dirty="0"/>
          </a:p>
          <a:p>
            <a:pPr lvl="1"/>
            <a:r>
              <a:rPr lang="" dirty="0"/>
              <a:t>MPC08, Chi indices, VE indices, Burden eigenvalues</a:t>
            </a:r>
          </a:p>
          <a:p>
            <a:pPr lvl="1"/>
            <a:r>
              <a:rPr lang="" dirty="0"/>
              <a:t>Suggests that molecular connectivity and branching influence odor intensity.</a:t>
            </a:r>
          </a:p>
          <a:p>
            <a:r>
              <a:rPr lang="" b="1" dirty="0"/>
              <a:t>Mass-weighted structural information</a:t>
            </a:r>
            <a:endParaRPr lang="" dirty="0"/>
          </a:p>
          <a:p>
            <a:pPr lvl="1"/>
            <a:r>
              <a:rPr lang="" dirty="0"/>
              <a:t>ATSm, MorXm, G2m, TDBm descriptors</a:t>
            </a:r>
          </a:p>
          <a:p>
            <a:pPr lvl="1"/>
            <a:r>
              <a:rPr lang="" dirty="0"/>
              <a:t>Indicates that the spatial distribution of atomic masses contributes to intensity prediction.</a:t>
            </a:r>
          </a:p>
          <a:p>
            <a:r>
              <a:rPr lang="" b="1" dirty="0"/>
              <a:t>Hydrogen-bonding functionality</a:t>
            </a:r>
            <a:endParaRPr lang="" dirty="0"/>
          </a:p>
          <a:p>
            <a:pPr lvl="1"/>
            <a:r>
              <a:rPr lang="" dirty="0"/>
              <a:t>SsOH descriptor</a:t>
            </a:r>
          </a:p>
          <a:p>
            <a:pPr lvl="1"/>
            <a:r>
              <a:rPr lang="" dirty="0"/>
              <a:t>Presence of hydroxyl groups appears to influence odor intensity.</a:t>
            </a:r>
          </a:p>
          <a:p>
            <a:br>
              <a:rPr lang="" dirty="0"/>
            </a:br>
            <a:endParaRPr lang="" dirty="0"/>
          </a:p>
          <a:p>
            <a:r>
              <a:rPr lang="" b="1" dirty="0"/>
              <a:t>Interpretation</a:t>
            </a:r>
          </a:p>
          <a:p>
            <a:r>
              <a:rPr lang="" dirty="0"/>
              <a:t>The selected descriptors indicate that </a:t>
            </a:r>
            <a:r>
              <a:rPr lang="" b="1" dirty="0"/>
              <a:t>odor intensity is primarily related to molecular shape, size, and electronic structure</a:t>
            </a:r>
            <a:r>
              <a:rPr lang="" dirty="0"/>
              <a:t>.</a:t>
            </a:r>
          </a:p>
          <a:p>
            <a:r>
              <a:rPr lang="" dirty="0"/>
              <a:t>This is consistent with the hypothesis that intensity is determined by:</a:t>
            </a:r>
          </a:p>
          <a:p>
            <a:r>
              <a:rPr lang="" dirty="0"/>
              <a:t>How efficiently a molecule reaches the receptor.</a:t>
            </a:r>
          </a:p>
          <a:p>
            <a:r>
              <a:rPr lang="" dirty="0"/>
              <a:t>How strongly it interacts with the receptor binding site.</a:t>
            </a:r>
          </a:p>
          <a:p>
            <a:br>
              <a:rPr lang="" dirty="0"/>
            </a:br>
            <a:endParaRPr lang="" dirty="0"/>
          </a:p>
          <a:p>
            <a:r>
              <a:rPr lang="" b="1" dirty="0"/>
              <a:t>Surprisingly Underrepresented</a:t>
            </a:r>
          </a:p>
          <a:p>
            <a:r>
              <a:rPr lang="" dirty="0"/>
              <a:t>The model selected very few descriptors directly related to:</a:t>
            </a:r>
          </a:p>
          <a:p>
            <a:r>
              <a:rPr lang="" dirty="0"/>
              <a:t>Lipophilicity (LogP)</a:t>
            </a:r>
          </a:p>
          <a:p>
            <a:r>
              <a:rPr lang="" dirty="0"/>
              <a:t>Hydrogen-bond donor count</a:t>
            </a:r>
          </a:p>
          <a:p>
            <a:r>
              <a:rPr lang="" dirty="0"/>
              <a:t>Hydrogen-bond acceptor count</a:t>
            </a:r>
          </a:p>
          <a:p>
            <a:r>
              <a:rPr lang="" dirty="0"/>
              <a:t>Molecular surface area</a:t>
            </a:r>
          </a:p>
          <a:p>
            <a:r>
              <a:rPr lang="" dirty="0"/>
              <a:t>Polar surface area (PSA)</a:t>
            </a:r>
          </a:p>
          <a:p>
            <a:r>
              <a:rPr lang="" dirty="0"/>
              <a:t>Simple constitutional descriptors</a:t>
            </a:r>
          </a:p>
          <a:p>
            <a:r>
              <a:rPr lang="" dirty="0"/>
              <a:t>These properties are commonly important in odor and drug-design studies, yet they were not among the most informative predictors for </a:t>
            </a:r>
            <a:r>
              <a:rPr lang="" b="1" dirty="0"/>
              <a:t>Imax</a:t>
            </a:r>
            <a:r>
              <a:rPr lang="" dirty="0"/>
              <a:t> in this dataset.</a:t>
            </a:r>
          </a:p>
          <a:p>
            <a:br>
              <a:rPr lang="" dirty="0"/>
            </a:br>
            <a:endParaRPr lang="" dirty="0"/>
          </a:p>
          <a:p>
            <a:r>
              <a:rPr lang="" b="1" dirty="0"/>
              <a:t>One-line conclusion for the slide</a:t>
            </a:r>
          </a:p>
          <a:p>
            <a:r>
              <a:rPr lang="" b="1" dirty="0"/>
              <a:t>Maximum odor intensity appears to be driven mainly by molecular 3D shape, size, topology, and electronic structure, whereas classical descriptors such as LogP, PSA, and simple hydrogen-bond counts were not identified as major predictors.</a:t>
            </a:r>
            <a:endParaRPr lang="" dirty="0"/>
          </a:p>
          <a:p>
            <a:endParaRPr lang="LID4096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F081A42-54A3-4E6D-AAAD-815597063FD7}" type="slidenum">
              <a:rPr lang="LID4096" smtClean="0"/>
              <a:t>9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615583566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" b="1" dirty="0"/>
              <a:t>Here's what we've learned so far</a:t>
            </a:r>
          </a:p>
          <a:p>
            <a:r>
              <a:rPr lang="" b="1" dirty="0"/>
              <a:t>✓ XGBoost is currently your strongest base learner</a:t>
            </a:r>
          </a:p>
          <a:p>
            <a:r>
              <a:rPr lang="" dirty="0"/>
              <a:t>It captures most of the structure in the data.</a:t>
            </a:r>
          </a:p>
          <a:p>
            <a:r>
              <a:rPr lang="" b="1" dirty="0"/>
              <a:t>✓ The classifier is meaningful</a:t>
            </a:r>
          </a:p>
          <a:p>
            <a:r>
              <a:rPr lang="" dirty="0"/>
              <a:t>It learned something real:</a:t>
            </a:r>
          </a:p>
          <a:p>
            <a:r>
              <a:rPr lang="" dirty="0"/>
              <a:t>no confusion between low and high intensity </a:t>
            </a:r>
          </a:p>
          <a:p>
            <a:r>
              <a:rPr lang="" dirty="0"/>
              <a:t>class probabilities became moderately important features in XGBoost </a:t>
            </a:r>
          </a:p>
          <a:p>
            <a:r>
              <a:rPr lang="" b="1" dirty="0"/>
              <a:t>✓ But classifier probabilities do not improve regression</a:t>
            </a:r>
          </a:p>
          <a:p>
            <a:r>
              <a:rPr lang="" dirty="0"/>
              <a:t>We tested:</a:t>
            </a:r>
          </a:p>
          <a:p>
            <a:r>
              <a:rPr lang="" dirty="0"/>
              <a:t>adding them as features </a:t>
            </a:r>
          </a:p>
          <a:p>
            <a:r>
              <a:rPr lang="" dirty="0"/>
              <a:t>using them for residual correction </a:t>
            </a:r>
          </a:p>
          <a:p>
            <a:r>
              <a:rPr lang="" dirty="0"/>
              <a:t>Neither reduced CV MAE.</a:t>
            </a:r>
          </a:p>
          <a:p>
            <a:r>
              <a:rPr lang="" dirty="0"/>
              <a:t>So I would remove that branch from the production pipeline.</a:t>
            </a:r>
          </a:p>
          <a:p>
            <a:r>
              <a:rPr lang="" dirty="0"/>
              <a:t>This is actually a useful negative result—it tells us where </a:t>
            </a:r>
            <a:r>
              <a:rPr lang="" b="1" dirty="0"/>
              <a:t>not</a:t>
            </a:r>
            <a:r>
              <a:rPr lang="" dirty="0"/>
              <a:t> to spend more time.</a:t>
            </a:r>
          </a:p>
          <a:p>
            <a:endParaRPr lang="LID4096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F081A42-54A3-4E6D-AAAD-815597063FD7}" type="slidenum">
              <a:rPr lang="LID4096" smtClean="0"/>
              <a:t>13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199111028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LID4096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F081A42-54A3-4E6D-AAAD-815597063FD7}" type="slidenum">
              <a:rPr lang="LID4096" smtClean="0"/>
              <a:t>18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900156597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hlinkClick r:id="rId3"/>
              </a:rPr>
              <a:t>https://scikit-learn.org/stable/modules/generated/sklearn.gaussian_process.GaussianProcessRegressor.html</a:t>
            </a:r>
            <a:endParaRPr lang="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hlinkClick r:id="rId4"/>
              </a:rPr>
              <a:t>https://scikit-learn.org/stable/modules/generated/sklearn.ensemble.VotingClassifier.html#sklearn.ensemble.VotingClassifier</a:t>
            </a:r>
            <a:endParaRPr lang="LID4096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F081A42-54A3-4E6D-AAAD-815597063FD7}" type="slidenum">
              <a:rPr lang="LID4096" smtClean="0"/>
              <a:t>19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69220473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392921E-6127-1F89-05F7-B67FAA0F87B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7BC84EE-0075-40D9-6C43-52FF94DA0BD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LID4096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96FE7EB-0485-3B41-E87F-E7A6F35F859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BD65A3-F498-4B74-9815-EB2DD0BB06C6}" type="datetimeFigureOut">
              <a:rPr lang="LID4096" smtClean="0"/>
              <a:t>06/23/2026</a:t>
            </a:fld>
            <a:endParaRPr lang="LID4096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2EFF8A3-D9FD-892C-EF01-6C9B9AEE53E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A70CB9D-F26B-DF9D-876A-D1ED18353D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192A423-291C-4866-86F6-ED2E1D0F2DD3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58387298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8296F6B-611E-A992-D2CE-5BC959F53FF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5AC0BFF-4B03-A40F-B072-981B933A7A5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62D4331-591B-B421-BC64-EE759DE1543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BD65A3-F498-4B74-9815-EB2DD0BB06C6}" type="datetimeFigureOut">
              <a:rPr lang="LID4096" smtClean="0"/>
              <a:t>06/23/2026</a:t>
            </a:fld>
            <a:endParaRPr lang="LID4096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4A43754-8667-3B1E-01F9-DCDAEAA8FCF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3A43B70-D50E-FB02-07CA-8A365FB90BD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192A423-291C-4866-86F6-ED2E1D0F2DD3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13049753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A39520-9EE1-DD2F-CA90-7D31D93AD85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A5387FE-B802-95A2-2EEA-22BE65E2B93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EF0B6EF-5C40-AA0F-CF94-B358E3044D4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BD65A3-F498-4B74-9815-EB2DD0BB06C6}" type="datetimeFigureOut">
              <a:rPr lang="LID4096" smtClean="0"/>
              <a:t>06/23/2026</a:t>
            </a:fld>
            <a:endParaRPr lang="LID4096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AB9852C-F922-D660-B839-41F00A0AB17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47A875C-18C3-3540-986C-C7DDC56C66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192A423-291C-4866-86F6-ED2E1D0F2DD3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32697568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90FDF1D-DA35-EFC2-E8FA-4E3F766AB7E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399ECD6-C263-0995-9C5B-3F3F191FE1E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C62F5CC-5855-67BD-CA65-428E6BD8041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4BFE252-2D78-5D31-DB1B-90AC66E8958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BD65A3-F498-4B74-9815-EB2DD0BB06C6}" type="datetimeFigureOut">
              <a:rPr lang="LID4096" smtClean="0"/>
              <a:t>06/23/2026</a:t>
            </a:fld>
            <a:endParaRPr lang="LID4096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E2B3511-20DA-3FE6-C125-675F812C365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EC281AD-A108-ED57-619A-B47CA86AEC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192A423-291C-4866-86F6-ED2E1D0F2DD3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112715805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0405ECC-6FEE-00EF-E50A-F831DF1C8A6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5F4D178-4723-8AC1-6947-F4A705C2E76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D8FEB43-3E05-1054-C018-D75AD80374A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702E625C-53B4-3C91-B14D-17630D7809A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3D06F445-BF20-5ABA-14FC-D497982211E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297BEC11-F9FC-DFAB-9702-DFD35F3E30C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BD65A3-F498-4B74-9815-EB2DD0BB06C6}" type="datetimeFigureOut">
              <a:rPr lang="LID4096" smtClean="0"/>
              <a:t>06/23/2026</a:t>
            </a:fld>
            <a:endParaRPr lang="LID4096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A3303C62-D48A-B659-88C6-E314A59774A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CC1E6590-F6FD-0AE0-8567-D58608877A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192A423-291C-4866-86F6-ED2E1D0F2DD3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60790710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F9CC91F-CAF7-F26A-C7FA-F89A6E8AC14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3012508-62B2-DBD6-FB9B-D943B6915E2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BD65A3-F498-4B74-9815-EB2DD0BB06C6}" type="datetimeFigureOut">
              <a:rPr lang="LID4096" smtClean="0"/>
              <a:t>06/23/2026</a:t>
            </a:fld>
            <a:endParaRPr lang="LID4096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B70F615-2071-79FA-02A2-20F5547FF33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1C8A9B2-324F-8B2B-7825-C726808EE8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192A423-291C-4866-86F6-ED2E1D0F2DD3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29248847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2DC61C30-03DD-CA65-ED2E-DA29A42BFD6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BD65A3-F498-4B74-9815-EB2DD0BB06C6}" type="datetimeFigureOut">
              <a:rPr lang="LID4096" smtClean="0"/>
              <a:t>06/23/2026</a:t>
            </a:fld>
            <a:endParaRPr lang="LID4096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4556033E-25F0-77AC-49C2-A78D5B0D6BF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B762F6D-03CC-756A-B15F-3ABBB9AB01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192A423-291C-4866-86F6-ED2E1D0F2DD3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53090084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2B8665-38D7-E4F9-D6EB-6CF4C6C428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248C461-93E9-AAC4-3467-B5A885FD033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6ACBDA2-3F6F-46D9-F796-7AD275356B0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0A55A0E-086B-43CF-142A-D84260C89F2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BD65A3-F498-4B74-9815-EB2DD0BB06C6}" type="datetimeFigureOut">
              <a:rPr lang="LID4096" smtClean="0"/>
              <a:t>06/23/2026</a:t>
            </a:fld>
            <a:endParaRPr lang="LID4096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A3E5BBF-7E1E-A31F-BBDD-80D04CEDB71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EB9C893-8F0C-6678-310F-94F68B5590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192A423-291C-4866-86F6-ED2E1D0F2DD3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154378277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B4887A5-DA5B-E836-73F3-EB6CECF5669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A6D2CC51-0439-6F88-699A-F5BC186B11B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LID4096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FD7657E-E4FE-AE9B-6EEC-BAE51947AFA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080FA68-A3CC-A455-A74D-3C9088304A0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BD65A3-F498-4B74-9815-EB2DD0BB06C6}" type="datetimeFigureOut">
              <a:rPr lang="LID4096" smtClean="0"/>
              <a:t>06/23/2026</a:t>
            </a:fld>
            <a:endParaRPr lang="LID4096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20E4078-5F80-5733-1720-553EAD62AD6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EF116E3-9823-833B-2E6A-240DC483E3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192A423-291C-4866-86F6-ED2E1D0F2DD3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67235887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6F44EB-6EF6-D04E-90EF-A365467E89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7CBDCEE-030B-5225-9C81-4ECA26E3338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BE5D2C7-2A09-05AA-F1D1-7EA8E84E701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BD65A3-F498-4B74-9815-EB2DD0BB06C6}" type="datetimeFigureOut">
              <a:rPr lang="LID4096" smtClean="0"/>
              <a:t>06/23/2026</a:t>
            </a:fld>
            <a:endParaRPr lang="LID4096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DA920BC-5960-3341-862E-CC364FEBBB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1745EB5-5F0F-F9F3-0358-AB3206B444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192A423-291C-4866-86F6-ED2E1D0F2DD3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02595114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34C8C226-9F15-6920-1F04-D0A2461DADB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F3C4A0A-0C95-2381-3DD0-ECBE6A74D0A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F6CC05D-4B56-2A86-54D2-D38023DBCA5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BD65A3-F498-4B74-9815-EB2DD0BB06C6}" type="datetimeFigureOut">
              <a:rPr lang="LID4096" smtClean="0"/>
              <a:t>06/23/2026</a:t>
            </a:fld>
            <a:endParaRPr lang="LID4096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93F616F-0515-84BF-DD3E-EBDBDDDC7D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58F0DFD-C40D-3D79-82D3-89FCB2BBF05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192A423-291C-4866-86F6-ED2E1D0F2DD3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76488004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3340ADF8-FC18-84F2-BDD8-CD38BE0652E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5A21FEA-8D34-E7D1-6DD9-D4BA2695C3B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8123196-A985-9A4C-596C-EB0542B04DB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DBD65A3-F498-4B74-9815-EB2DD0BB06C6}" type="datetimeFigureOut">
              <a:rPr lang="LID4096" smtClean="0"/>
              <a:t>06/23/2026</a:t>
            </a:fld>
            <a:endParaRPr lang="LID4096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B0589DA-B38E-59BC-BA88-82C89DCB9A2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LID4096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8BB0102-F466-DD2E-2A5D-D68ABEB345D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192A423-291C-4866-86F6-ED2E1D0F2DD3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169919270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LID4096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7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2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5.png"/><Relationship Id="rId4" Type="http://schemas.openxmlformats.org/officeDocument/2006/relationships/image" Target="../media/image14.png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9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23.png"/><Relationship Id="rId4" Type="http://schemas.openxmlformats.org/officeDocument/2006/relationships/image" Target="../media/image22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30.png"/><Relationship Id="rId4" Type="http://schemas.openxmlformats.org/officeDocument/2006/relationships/image" Target="../media/image29.png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0094F118-E43C-A7AD-5EC1-FA6DF7F25EB9}"/>
              </a:ext>
            </a:extLst>
          </p:cNvPr>
          <p:cNvSpPr txBox="1"/>
          <p:nvPr/>
        </p:nvSpPr>
        <p:spPr>
          <a:xfrm>
            <a:off x="621703" y="831135"/>
            <a:ext cx="11265497" cy="425353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/>
              <a:t>The goal of the project: Prediction of the odor intensity of fragrance molecules</a:t>
            </a:r>
            <a:br>
              <a:rPr lang="en-US" dirty="0"/>
            </a:br>
            <a:br>
              <a:rPr lang="en-US" dirty="0"/>
            </a:br>
            <a:r>
              <a:rPr lang="en-US" sz="2400" dirty="0"/>
              <a:t>The real word problem:</a:t>
            </a:r>
          </a:p>
          <a:p>
            <a:endParaRPr lang="en-US" dirty="0"/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dirty="0"/>
              <a:t>Odor intensity determines how much of an ingredient is needed in a fragrance formula (quantity ~ cost).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dirty="0"/>
              <a:t>Intensity as a function of concentration is essential for fragrance design and reformulation.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dirty="0"/>
              <a:t>Highly intense ingredients are economically attractive because lower dosages are required.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dirty="0"/>
              <a:t>Experimental intensity measurements are costly, slow, and require trained sensory panels.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dirty="0"/>
              <a:t>Predicting intensity from molecular properties could accelerate ingredient discovery and reduce R&amp;D costs.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" dirty="0"/>
              <a:t>The mechanisms of odor perception are not fully understood, and fragrance development still relies heavily on expert knowledge and experience</a:t>
            </a:r>
            <a:endParaRPr lang="LID4096" dirty="0"/>
          </a:p>
        </p:txBody>
      </p:sp>
    </p:spTree>
    <p:extLst>
      <p:ext uri="{BB962C8B-B14F-4D97-AF65-F5344CB8AC3E}">
        <p14:creationId xmlns:p14="http://schemas.microsoft.com/office/powerpoint/2010/main" val="131410046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BF5BABD6-1A96-9F71-774C-E1DF982A4CAB}"/>
              </a:ext>
            </a:extLst>
          </p:cNvPr>
          <p:cNvSpPr txBox="1"/>
          <p:nvPr/>
        </p:nvSpPr>
        <p:spPr>
          <a:xfrm>
            <a:off x="331624" y="315389"/>
            <a:ext cx="649815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/>
              <a:t>Intensity behavior (different threshold)</a:t>
            </a:r>
            <a:endParaRPr lang="LID4096" sz="2400" b="1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5C05899B-29F6-AD87-D70F-5398748B488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35433" y="1456536"/>
            <a:ext cx="2209914" cy="787440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DB79EB18-0A80-C009-DC4E-ADFAECF1280B}"/>
              </a:ext>
            </a:extLst>
          </p:cNvPr>
          <p:cNvSpPr txBox="1"/>
          <p:nvPr/>
        </p:nvSpPr>
        <p:spPr>
          <a:xfrm>
            <a:off x="418271" y="875609"/>
            <a:ext cx="1108075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Odor intensity is measured by  labeled magnitude scale  (LMS), which is hybrid scaling technique using verbally labeled line with quasi-logarithmic spacing between the labels.</a:t>
            </a:r>
            <a:endParaRPr lang="LID4096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950E2B9-F4ED-64FE-3875-E8D1D5E4F4A9}"/>
              </a:ext>
            </a:extLst>
          </p:cNvPr>
          <p:cNvSpPr txBox="1"/>
          <p:nvPr/>
        </p:nvSpPr>
        <p:spPr>
          <a:xfrm>
            <a:off x="587022" y="6478852"/>
            <a:ext cx="6852356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/>
              <a:t>ref: Method for Predicting Odor Intensity of Perfumery Raw Materials Using Dose–Response Curve Database, Wakayama, Hideki, </a:t>
            </a:r>
            <a:r>
              <a:rPr lang="en-US" sz="1000" dirty="0" err="1"/>
              <a:t>doi</a:t>
            </a:r>
            <a:r>
              <a:rPr lang="en-US" sz="1000" dirty="0"/>
              <a:t>: 10.1021/acs.iecr.9b01225, https://pubs.acs.org/doi/10.1021/acs.iecr.9b01225</a:t>
            </a:r>
            <a:endParaRPr lang="LID4096" sz="10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B0EC1BE1-BF81-17A7-302C-30B1EB2D80B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59673" y="1758257"/>
            <a:ext cx="5428011" cy="4224134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613DD6F3-2A55-C108-5E5C-56DCD8D2283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35308" y="2427411"/>
            <a:ext cx="5260692" cy="290214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620904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>
            <a:extLst>
              <a:ext uri="{FF2B5EF4-FFF2-40B4-BE49-F238E27FC236}">
                <a16:creationId xmlns:a16="http://schemas.microsoft.com/office/drawing/2014/main" id="{33C44EB0-956E-9071-7A22-34C1DD46D68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56022" y="1009407"/>
            <a:ext cx="7226071" cy="5041445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CAC36BBC-278C-C198-E896-D3827667ADD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907" y="789243"/>
            <a:ext cx="4230356" cy="5683641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40CAA5B8-2CA5-5D52-9EF5-9004B4829A12}"/>
              </a:ext>
            </a:extLst>
          </p:cNvPr>
          <p:cNvSpPr txBox="1"/>
          <p:nvPr/>
        </p:nvSpPr>
        <p:spPr>
          <a:xfrm>
            <a:off x="703385" y="251208"/>
            <a:ext cx="423035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Visualization of data with Python</a:t>
            </a:r>
            <a:endParaRPr lang="LID4096" b="1" dirty="0"/>
          </a:p>
        </p:txBody>
      </p:sp>
    </p:spTree>
    <p:extLst>
      <p:ext uri="{BB962C8B-B14F-4D97-AF65-F5344CB8AC3E}">
        <p14:creationId xmlns:p14="http://schemas.microsoft.com/office/powerpoint/2010/main" val="119745146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0B634F69-47D3-6340-82F6-E6001F0A2F41}"/>
              </a:ext>
            </a:extLst>
          </p:cNvPr>
          <p:cNvSpPr txBox="1"/>
          <p:nvPr/>
        </p:nvSpPr>
        <p:spPr>
          <a:xfrm>
            <a:off x="444703" y="193055"/>
            <a:ext cx="11320001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" b="1" dirty="0"/>
              <a:t>Performance Target Selection:</a:t>
            </a:r>
            <a:endParaRPr lang="he-IL" b="1" dirty="0"/>
          </a:p>
          <a:p>
            <a:endParaRPr lang="he-IL" dirty="0"/>
          </a:p>
          <a:p>
            <a:r>
              <a:rPr lang="" dirty="0"/>
              <a:t>The supplementary sensory data allow us to quantify the variability of odor intensity assessments.</a:t>
            </a:r>
            <a:endParaRPr lang="en-US" dirty="0"/>
          </a:p>
          <a:p>
            <a:endParaRPr lang="LID4096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CD4F08B5-3D32-7449-EFB5-4A4A27A52F5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1657" y="1256710"/>
            <a:ext cx="5878744" cy="3521277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CC20EE3E-D6A0-2448-870C-739EC030135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61601" y="1256710"/>
            <a:ext cx="5878744" cy="3521278"/>
          </a:xfrm>
          <a:prstGeom prst="rect">
            <a:avLst/>
          </a:prstGeom>
        </p:spPr>
      </p:pic>
      <p:graphicFrame>
        <p:nvGraphicFramePr>
          <p:cNvPr id="10" name="Table 9">
            <a:extLst>
              <a:ext uri="{FF2B5EF4-FFF2-40B4-BE49-F238E27FC236}">
                <a16:creationId xmlns:a16="http://schemas.microsoft.com/office/drawing/2014/main" id="{EEF4F038-2E0B-8126-68BF-9B458F0B685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38445605"/>
              </p:ext>
            </p:extLst>
          </p:nvPr>
        </p:nvGraphicFramePr>
        <p:xfrm>
          <a:off x="444703" y="4819217"/>
          <a:ext cx="4487605" cy="822960"/>
        </p:xfrm>
        <a:graphic>
          <a:graphicData uri="http://schemas.openxmlformats.org/drawingml/2006/table">
            <a:tbl>
              <a:tblPr>
                <a:tableStyleId>{5940675A-B579-460E-94D1-54222C63F5DA}</a:tableStyleId>
              </a:tblPr>
              <a:tblGrid>
                <a:gridCol w="2234523">
                  <a:extLst>
                    <a:ext uri="{9D8B030D-6E8A-4147-A177-3AD203B41FA5}">
                      <a16:colId xmlns:a16="http://schemas.microsoft.com/office/drawing/2014/main" val="3745781058"/>
                    </a:ext>
                  </a:extLst>
                </a:gridCol>
                <a:gridCol w="2253082">
                  <a:extLst>
                    <a:ext uri="{9D8B030D-6E8A-4147-A177-3AD203B41FA5}">
                      <a16:colId xmlns:a16="http://schemas.microsoft.com/office/drawing/2014/main" val="608544307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" sz="1200" b="1" dirty="0"/>
                        <a:t>Source of uncertainty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" sz="1200" b="1" dirty="0"/>
                        <a:t>Typical magnitude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34929903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" sz="1200" dirty="0"/>
                        <a:t>Within evaluator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" sz="1200" dirty="0"/>
                        <a:t>~3–5 LMS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8184174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" sz="1200" dirty="0"/>
                        <a:t>Between evaluators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" sz="1200" dirty="0"/>
                        <a:t>~8–13 LMS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797103746"/>
                  </a:ext>
                </a:extLst>
              </a:tr>
            </a:tbl>
          </a:graphicData>
        </a:graphic>
      </p:graphicFrame>
      <p:graphicFrame>
        <p:nvGraphicFramePr>
          <p:cNvPr id="12" name="Table 11">
            <a:extLst>
              <a:ext uri="{FF2B5EF4-FFF2-40B4-BE49-F238E27FC236}">
                <a16:creationId xmlns:a16="http://schemas.microsoft.com/office/drawing/2014/main" id="{89F62D10-F813-9BC4-82AD-0894C6D419A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76444207"/>
              </p:ext>
            </p:extLst>
          </p:nvPr>
        </p:nvGraphicFramePr>
        <p:xfrm>
          <a:off x="5506688" y="4841659"/>
          <a:ext cx="6547102" cy="1097280"/>
        </p:xfrm>
        <a:graphic>
          <a:graphicData uri="http://schemas.openxmlformats.org/drawingml/2006/table">
            <a:tbl>
              <a:tblPr>
                <a:tableStyleId>{5940675A-B579-460E-94D1-54222C63F5DA}</a:tableStyleId>
              </a:tblPr>
              <a:tblGrid>
                <a:gridCol w="3260013">
                  <a:extLst>
                    <a:ext uri="{9D8B030D-6E8A-4147-A177-3AD203B41FA5}">
                      <a16:colId xmlns:a16="http://schemas.microsoft.com/office/drawing/2014/main" val="3745781058"/>
                    </a:ext>
                  </a:extLst>
                </a:gridCol>
                <a:gridCol w="3287089">
                  <a:extLst>
                    <a:ext uri="{9D8B030D-6E8A-4147-A177-3AD203B41FA5}">
                      <a16:colId xmlns:a16="http://schemas.microsoft.com/office/drawing/2014/main" val="608544307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" sz="1200" b="1" dirty="0"/>
                        <a:t>Target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" sz="1200" b="1" dirty="0"/>
                        <a:t>Model performance level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47209600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" sz="1200" dirty="0"/>
                        <a:t>MAE &lt; 12 LMS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200" dirty="0"/>
                        <a:t>Useful predictive model</a:t>
                      </a:r>
                      <a:endParaRPr lang="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34929903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" sz="1200" dirty="0"/>
                        <a:t>MAE &lt; 8 LMS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200" dirty="0"/>
                        <a:t>Comparable to evaluator uncertainty</a:t>
                      </a:r>
                      <a:endParaRPr lang="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8184174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" sz="1200" dirty="0"/>
                        <a:t>MAE &lt; 6 LMS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200" b="1" dirty="0"/>
                        <a:t>Approaching measurement noise level</a:t>
                      </a:r>
                      <a:endParaRPr lang="" sz="1200" b="1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797103746"/>
                  </a:ext>
                </a:extLst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ADDDE74E-96FA-F74C-D5C6-00E15226D9EA}"/>
              </a:ext>
            </a:extLst>
          </p:cNvPr>
          <p:cNvSpPr txBox="1"/>
          <p:nvPr/>
        </p:nvSpPr>
        <p:spPr>
          <a:xfrm>
            <a:off x="359428" y="5938939"/>
            <a:ext cx="11604346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" b="1" dirty="0"/>
              <a:t>Selected project metric: Mean Absolute Error (MAE)</a:t>
            </a:r>
            <a:br>
              <a:rPr lang="" dirty="0"/>
            </a:br>
            <a:r>
              <a:rPr lang="" b="1" dirty="0"/>
              <a:t>Target performance: MAE &lt; 8 LMS</a:t>
            </a:r>
            <a:r>
              <a:rPr lang="" dirty="0"/>
              <a:t>, corresponding approximately to the </a:t>
            </a:r>
            <a:r>
              <a:rPr lang="" b="1" dirty="0"/>
              <a:t>typical between-evaluator variability</a:t>
            </a:r>
            <a:r>
              <a:rPr lang="" dirty="0"/>
              <a:t> observed in sensory assessments.</a:t>
            </a:r>
            <a:endParaRPr lang="LID4096" dirty="0"/>
          </a:p>
        </p:txBody>
      </p:sp>
    </p:spTree>
    <p:extLst>
      <p:ext uri="{BB962C8B-B14F-4D97-AF65-F5344CB8AC3E}">
        <p14:creationId xmlns:p14="http://schemas.microsoft.com/office/powerpoint/2010/main" val="83437157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3BAA89AE-181F-004D-E569-9173FE18C08A}"/>
              </a:ext>
            </a:extLst>
          </p:cNvPr>
          <p:cNvSpPr txBox="1"/>
          <p:nvPr/>
        </p:nvSpPr>
        <p:spPr>
          <a:xfrm>
            <a:off x="131657" y="85718"/>
            <a:ext cx="382155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What do we have as an initial data?</a:t>
            </a:r>
            <a:endParaRPr lang="LID4096" b="1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DE9B36B9-DFC0-9D74-5F4D-36D2EB1FA76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1657" y="3248530"/>
            <a:ext cx="7495117" cy="3392723"/>
          </a:xfrm>
          <a:prstGeom prst="rect">
            <a:avLst/>
          </a:prstGeom>
        </p:spPr>
      </p:pic>
      <p:grpSp>
        <p:nvGrpSpPr>
          <p:cNvPr id="23" name="Group 22">
            <a:extLst>
              <a:ext uri="{FF2B5EF4-FFF2-40B4-BE49-F238E27FC236}">
                <a16:creationId xmlns:a16="http://schemas.microsoft.com/office/drawing/2014/main" id="{2B46C2AB-A0B1-828E-F932-72A7EB624B52}"/>
              </a:ext>
            </a:extLst>
          </p:cNvPr>
          <p:cNvGrpSpPr/>
          <p:nvPr/>
        </p:nvGrpSpPr>
        <p:grpSpPr>
          <a:xfrm>
            <a:off x="13547" y="816539"/>
            <a:ext cx="5520699" cy="1956071"/>
            <a:chOff x="13547" y="816539"/>
            <a:chExt cx="5520699" cy="1956071"/>
          </a:xfrm>
        </p:grpSpPr>
        <p:grpSp>
          <p:nvGrpSpPr>
            <p:cNvPr id="9" name="Group 8">
              <a:extLst>
                <a:ext uri="{FF2B5EF4-FFF2-40B4-BE49-F238E27FC236}">
                  <a16:creationId xmlns:a16="http://schemas.microsoft.com/office/drawing/2014/main" id="{FC07FFA6-CEBC-967F-05BA-07288506CEEA}"/>
                </a:ext>
              </a:extLst>
            </p:cNvPr>
            <p:cNvGrpSpPr/>
            <p:nvPr/>
          </p:nvGrpSpPr>
          <p:grpSpPr>
            <a:xfrm>
              <a:off x="592667" y="816539"/>
              <a:ext cx="4941579" cy="1956071"/>
              <a:chOff x="592667" y="816539"/>
              <a:chExt cx="4941579" cy="1956071"/>
            </a:xfrm>
          </p:grpSpPr>
          <p:pic>
            <p:nvPicPr>
              <p:cNvPr id="6" name="Picture 5">
                <a:extLst>
                  <a:ext uri="{FF2B5EF4-FFF2-40B4-BE49-F238E27FC236}">
                    <a16:creationId xmlns:a16="http://schemas.microsoft.com/office/drawing/2014/main" id="{5FBEE714-BC4A-1A55-9395-350BFE3B4106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839894" y="816539"/>
                <a:ext cx="4694352" cy="1619023"/>
              </a:xfrm>
              <a:prstGeom prst="rect">
                <a:avLst/>
              </a:prstGeom>
            </p:spPr>
          </p:pic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93E29352-B6B4-EB03-7A6C-47604E93CDFC}"/>
                  </a:ext>
                </a:extLst>
              </p:cNvPr>
              <p:cNvSpPr txBox="1"/>
              <p:nvPr/>
            </p:nvSpPr>
            <p:spPr>
              <a:xfrm>
                <a:off x="914400" y="2403278"/>
                <a:ext cx="1551093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he-IL" dirty="0"/>
                  <a:t>......</a:t>
                </a:r>
                <a:endParaRPr lang="LID4096" dirty="0"/>
              </a:p>
            </p:txBody>
          </p:sp>
          <p:sp>
            <p:nvSpPr>
              <p:cNvPr id="8" name="Left Brace 7">
                <a:extLst>
                  <a:ext uri="{FF2B5EF4-FFF2-40B4-BE49-F238E27FC236}">
                    <a16:creationId xmlns:a16="http://schemas.microsoft.com/office/drawing/2014/main" id="{CFE8BC09-5359-8FCC-C6F9-DC28EA6ACF25}"/>
                  </a:ext>
                </a:extLst>
              </p:cNvPr>
              <p:cNvSpPr/>
              <p:nvPr/>
            </p:nvSpPr>
            <p:spPr>
              <a:xfrm>
                <a:off x="592667" y="1758759"/>
                <a:ext cx="209974" cy="866987"/>
              </a:xfrm>
              <a:prstGeom prst="leftBrace">
                <a:avLst/>
              </a:prstGeom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2D21E78F-3C32-ED3B-86E8-62E25678DDB2}"/>
                </a:ext>
              </a:extLst>
            </p:cNvPr>
            <p:cNvSpPr txBox="1"/>
            <p:nvPr/>
          </p:nvSpPr>
          <p:spPr>
            <a:xfrm>
              <a:off x="13547" y="2007586"/>
              <a:ext cx="684107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he-IL" sz="1600" b="1" dirty="0"/>
                <a:t>312</a:t>
              </a:r>
              <a:endParaRPr lang="LID4096" sz="1600" b="1" dirty="0"/>
            </a:p>
          </p:txBody>
        </p:sp>
      </p:grpSp>
      <p:sp>
        <p:nvSpPr>
          <p:cNvPr id="12" name="TextBox 11">
            <a:extLst>
              <a:ext uri="{FF2B5EF4-FFF2-40B4-BE49-F238E27FC236}">
                <a16:creationId xmlns:a16="http://schemas.microsoft.com/office/drawing/2014/main" id="{C02ABD11-BF1C-FC6A-8D4B-3404785B724B}"/>
              </a:ext>
            </a:extLst>
          </p:cNvPr>
          <p:cNvSpPr txBox="1"/>
          <p:nvPr/>
        </p:nvSpPr>
        <p:spPr>
          <a:xfrm>
            <a:off x="7262708" y="303319"/>
            <a:ext cx="5096933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b="1" i="1" dirty="0"/>
              <a:t>Dragon, computational data set for molecules</a:t>
            </a:r>
            <a:endParaRPr lang="LID4096" sz="1600" b="1" i="1" dirty="0"/>
          </a:p>
        </p:txBody>
      </p:sp>
      <p:grpSp>
        <p:nvGrpSpPr>
          <p:cNvPr id="27" name="Group 26">
            <a:extLst>
              <a:ext uri="{FF2B5EF4-FFF2-40B4-BE49-F238E27FC236}">
                <a16:creationId xmlns:a16="http://schemas.microsoft.com/office/drawing/2014/main" id="{CCC54312-73B0-7455-D4A7-D47575F063E7}"/>
              </a:ext>
            </a:extLst>
          </p:cNvPr>
          <p:cNvGrpSpPr/>
          <p:nvPr/>
        </p:nvGrpSpPr>
        <p:grpSpPr>
          <a:xfrm>
            <a:off x="7626774" y="615072"/>
            <a:ext cx="3535681" cy="2327152"/>
            <a:chOff x="6096000" y="632794"/>
            <a:chExt cx="3535681" cy="2327152"/>
          </a:xfrm>
        </p:grpSpPr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82EE073D-8154-EE02-DEB1-807272EEA68C}"/>
                </a:ext>
              </a:extLst>
            </p:cNvPr>
            <p:cNvSpPr/>
            <p:nvPr/>
          </p:nvSpPr>
          <p:spPr>
            <a:xfrm>
              <a:off x="6929121" y="1025983"/>
              <a:ext cx="2702560" cy="1933963"/>
            </a:xfrm>
            <a:prstGeom prst="rect">
              <a:avLst/>
            </a:prstGeom>
            <a:solidFill>
              <a:schemeClr val="tx2">
                <a:lumMod val="25000"/>
                <a:lumOff val="7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E2154EF2-7BC8-7A5A-FEAD-E7F778111E3B}"/>
                </a:ext>
              </a:extLst>
            </p:cNvPr>
            <p:cNvSpPr txBox="1"/>
            <p:nvPr/>
          </p:nvSpPr>
          <p:spPr>
            <a:xfrm>
              <a:off x="6096000" y="1758759"/>
              <a:ext cx="751840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/>
                <a:t>4065</a:t>
              </a:r>
              <a:endParaRPr lang="LID4096" dirty="0"/>
            </a:p>
          </p:txBody>
        </p: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5BBFE7F0-54C0-6A8E-113B-5F6481DFE993}"/>
                </a:ext>
              </a:extLst>
            </p:cNvPr>
            <p:cNvCxnSpPr>
              <a:cxnSpLocks/>
              <a:endCxn id="13" idx="0"/>
            </p:cNvCxnSpPr>
            <p:nvPr/>
          </p:nvCxnSpPr>
          <p:spPr>
            <a:xfrm>
              <a:off x="6471920" y="1025983"/>
              <a:ext cx="0" cy="732776"/>
            </a:xfrm>
            <a:prstGeom prst="line">
              <a:avLst/>
            </a:prstGeom>
            <a:ln>
              <a:headEnd type="diamon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Straight Connector 15">
              <a:extLst>
                <a:ext uri="{FF2B5EF4-FFF2-40B4-BE49-F238E27FC236}">
                  <a16:creationId xmlns:a16="http://schemas.microsoft.com/office/drawing/2014/main" id="{24D16D01-8A4F-4A9D-C1F9-53D5F1E23825}"/>
                </a:ext>
              </a:extLst>
            </p:cNvPr>
            <p:cNvCxnSpPr>
              <a:cxnSpLocks/>
            </p:cNvCxnSpPr>
            <p:nvPr/>
          </p:nvCxnSpPr>
          <p:spPr>
            <a:xfrm>
              <a:off x="6475307" y="2176863"/>
              <a:ext cx="0" cy="732776"/>
            </a:xfrm>
            <a:prstGeom prst="line">
              <a:avLst/>
            </a:prstGeom>
            <a:ln>
              <a:tailEnd type="diamon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ED0639CA-50A6-A356-3BC1-7A60B6683023}"/>
                </a:ext>
              </a:extLst>
            </p:cNvPr>
            <p:cNvSpPr txBox="1"/>
            <p:nvPr/>
          </p:nvSpPr>
          <p:spPr>
            <a:xfrm>
              <a:off x="7850294" y="632794"/>
              <a:ext cx="751840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/>
                <a:t>2491</a:t>
              </a:r>
              <a:endParaRPr lang="LID4096" dirty="0"/>
            </a:p>
          </p:txBody>
        </p:sp>
        <p:cxnSp>
          <p:nvCxnSpPr>
            <p:cNvPr id="20" name="Straight Connector 19">
              <a:extLst>
                <a:ext uri="{FF2B5EF4-FFF2-40B4-BE49-F238E27FC236}">
                  <a16:creationId xmlns:a16="http://schemas.microsoft.com/office/drawing/2014/main" id="{CABFB256-7952-404F-3104-869E78E58681}"/>
                </a:ext>
              </a:extLst>
            </p:cNvPr>
            <p:cNvCxnSpPr>
              <a:endCxn id="18" idx="1"/>
            </p:cNvCxnSpPr>
            <p:nvPr/>
          </p:nvCxnSpPr>
          <p:spPr>
            <a:xfrm>
              <a:off x="7003627" y="816539"/>
              <a:ext cx="846667" cy="921"/>
            </a:xfrm>
            <a:prstGeom prst="line">
              <a:avLst/>
            </a:prstGeom>
            <a:ln>
              <a:headEnd type="diamon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>
              <a:extLst>
                <a:ext uri="{FF2B5EF4-FFF2-40B4-BE49-F238E27FC236}">
                  <a16:creationId xmlns:a16="http://schemas.microsoft.com/office/drawing/2014/main" id="{CFDBB57D-AE9A-228F-0262-EAEB02872050}"/>
                </a:ext>
              </a:extLst>
            </p:cNvPr>
            <p:cNvCxnSpPr>
              <a:cxnSpLocks/>
            </p:cNvCxnSpPr>
            <p:nvPr/>
          </p:nvCxnSpPr>
          <p:spPr>
            <a:xfrm>
              <a:off x="8602134" y="805810"/>
              <a:ext cx="1029547" cy="10729"/>
            </a:xfrm>
            <a:prstGeom prst="line">
              <a:avLst/>
            </a:prstGeom>
            <a:ln>
              <a:headEnd type="none"/>
              <a:tailEnd type="diamon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4" name="TextBox 23">
            <a:extLst>
              <a:ext uri="{FF2B5EF4-FFF2-40B4-BE49-F238E27FC236}">
                <a16:creationId xmlns:a16="http://schemas.microsoft.com/office/drawing/2014/main" id="{40D55DC2-302A-F4BE-342A-4F227F73679D}"/>
              </a:ext>
            </a:extLst>
          </p:cNvPr>
          <p:cNvSpPr txBox="1"/>
          <p:nvPr/>
        </p:nvSpPr>
        <p:spPr>
          <a:xfrm>
            <a:off x="426938" y="2942224"/>
            <a:ext cx="552026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b="1" dirty="0"/>
              <a:t>Merge between target and feature -&gt; 282 molecules</a:t>
            </a:r>
            <a:endParaRPr lang="LID4096" sz="1600" b="1" dirty="0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6BFB2310-F4D4-D3DB-A3D6-B8E2BB03D4F2}"/>
              </a:ext>
            </a:extLst>
          </p:cNvPr>
          <p:cNvSpPr txBox="1"/>
          <p:nvPr/>
        </p:nvSpPr>
        <p:spPr>
          <a:xfrm>
            <a:off x="7626774" y="3429000"/>
            <a:ext cx="4117324" cy="31393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From literature review following predictors can be relevant:</a:t>
            </a:r>
          </a:p>
          <a:p>
            <a:endParaRPr lang="en-US" dirty="0"/>
          </a:p>
          <a:p>
            <a:r>
              <a:rPr lang="en-US" dirty="0"/>
              <a:t>~ vapor pressure (std. condition)</a:t>
            </a:r>
          </a:p>
          <a:p>
            <a:r>
              <a:rPr lang="en-US" dirty="0"/>
              <a:t>~ boiling point (std. condition)</a:t>
            </a:r>
          </a:p>
          <a:p>
            <a:endParaRPr lang="en-US" dirty="0"/>
          </a:p>
          <a:p>
            <a:r>
              <a:rPr lang="en-US" dirty="0"/>
              <a:t>~ Alpha-shape</a:t>
            </a:r>
          </a:p>
          <a:p>
            <a:r>
              <a:rPr lang="en-US" dirty="0"/>
              <a:t>~ </a:t>
            </a:r>
            <a:r>
              <a:rPr lang="en-US" dirty="0" err="1"/>
              <a:t>MLogP</a:t>
            </a:r>
            <a:endParaRPr lang="en-US" dirty="0"/>
          </a:p>
          <a:p>
            <a:r>
              <a:rPr lang="en-US" dirty="0"/>
              <a:t>~ </a:t>
            </a:r>
            <a:r>
              <a:rPr lang="en-US" dirty="0" err="1"/>
              <a:t>RDKit</a:t>
            </a:r>
            <a:r>
              <a:rPr lang="en-US" dirty="0"/>
              <a:t> Library</a:t>
            </a:r>
          </a:p>
          <a:p>
            <a:endParaRPr lang="en-US" dirty="0"/>
          </a:p>
          <a:p>
            <a:endParaRPr lang="LID4096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498AB37-3C76-F7DB-D673-F6869F499C8B}"/>
              </a:ext>
            </a:extLst>
          </p:cNvPr>
          <p:cNvSpPr txBox="1"/>
          <p:nvPr/>
        </p:nvSpPr>
        <p:spPr>
          <a:xfrm>
            <a:off x="7735711" y="38753"/>
            <a:ext cx="6191954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LID4096" sz="1400" dirty="0"/>
              <a:t>https://www.talete.mi.it/products/products.htm</a:t>
            </a:r>
          </a:p>
        </p:txBody>
      </p:sp>
    </p:spTree>
    <p:extLst>
      <p:ext uri="{BB962C8B-B14F-4D97-AF65-F5344CB8AC3E}">
        <p14:creationId xmlns:p14="http://schemas.microsoft.com/office/powerpoint/2010/main" val="242135992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DFE526A6-647B-9228-2E1E-E555301C5767}"/>
              </a:ext>
            </a:extLst>
          </p:cNvPr>
          <p:cNvSpPr txBox="1"/>
          <p:nvPr/>
        </p:nvSpPr>
        <p:spPr>
          <a:xfrm>
            <a:off x="523875" y="342900"/>
            <a:ext cx="1030605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Here I want to show the distribution of Imax values (probably also, Ci and Di)</a:t>
            </a:r>
            <a:endParaRPr lang="LID4096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A8DE3EC-EC2D-DA2D-AAA0-D1FEADAAA724}"/>
              </a:ext>
            </a:extLst>
          </p:cNvPr>
          <p:cNvSpPr txBox="1"/>
          <p:nvPr/>
        </p:nvSpPr>
        <p:spPr>
          <a:xfrm>
            <a:off x="590550" y="847725"/>
            <a:ext cx="67818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First Goal is to try to predict the saturation intensity Imax</a:t>
            </a:r>
            <a:endParaRPr lang="LID4096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4034DC3-FB47-1607-7143-28CBE2961725}"/>
              </a:ext>
            </a:extLst>
          </p:cNvPr>
          <p:cNvSpPr txBox="1"/>
          <p:nvPr/>
        </p:nvSpPr>
        <p:spPr>
          <a:xfrm>
            <a:off x="5600700" y="1724025"/>
            <a:ext cx="386715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Show here the dummy result</a:t>
            </a:r>
            <a:endParaRPr lang="LID4096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078C399C-F42B-360C-684E-DC51FCF4782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0550" y="1803760"/>
            <a:ext cx="5172075" cy="41243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0970293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B6755919-B6B2-BD82-E3F7-0C44994F6151}"/>
              </a:ext>
            </a:extLst>
          </p:cNvPr>
          <p:cNvSpPr txBox="1"/>
          <p:nvPr/>
        </p:nvSpPr>
        <p:spPr>
          <a:xfrm>
            <a:off x="499352" y="415047"/>
            <a:ext cx="10745821" cy="258532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Features Engineering :</a:t>
            </a:r>
          </a:p>
          <a:p>
            <a:endParaRPr lang="en-US" dirty="0"/>
          </a:p>
          <a:p>
            <a:pPr marL="342900" indent="-342900">
              <a:buAutoNum type="arabicParenR"/>
            </a:pPr>
            <a:r>
              <a:rPr lang="en-US" dirty="0"/>
              <a:t>Merge between target (Waka data set) and Features matrix - &gt; 30 sample drops, we stay with 282 samples</a:t>
            </a:r>
          </a:p>
          <a:p>
            <a:pPr marL="342900" indent="-342900">
              <a:buAutoNum type="arabicParenR"/>
            </a:pPr>
            <a:r>
              <a:rPr lang="en-US" dirty="0"/>
              <a:t>Dropping of features with zero variance</a:t>
            </a:r>
          </a:p>
          <a:p>
            <a:pPr marL="342900" indent="-342900">
              <a:buAutoNum type="arabicParenR"/>
            </a:pPr>
            <a:r>
              <a:rPr lang="en-US" dirty="0"/>
              <a:t>Dropping of features with correlation above 0.95  -&gt; stay with 834 features from initial 2491</a:t>
            </a:r>
          </a:p>
          <a:p>
            <a:pPr marL="342900" indent="-342900">
              <a:buAutoNum type="arabicParenR"/>
            </a:pPr>
            <a:r>
              <a:rPr lang="en-US" dirty="0"/>
              <a:t>Running of XGBOOST for features importance (not tunned, and not CV-ed)</a:t>
            </a:r>
          </a:p>
          <a:p>
            <a:pPr marL="342900" indent="-342900">
              <a:buAutoNum type="arabicParenR"/>
            </a:pPr>
            <a:r>
              <a:rPr lang="en-US" dirty="0"/>
              <a:t>Selection of the top 71 features</a:t>
            </a:r>
          </a:p>
          <a:p>
            <a:pPr marL="342900" indent="-342900">
              <a:buAutoNum type="arabicParenR"/>
            </a:pPr>
            <a:r>
              <a:rPr lang="en-US" dirty="0"/>
              <a:t>Wide </a:t>
            </a:r>
            <a:r>
              <a:rPr lang="en-US" dirty="0" err="1"/>
              <a:t>GridSearch</a:t>
            </a:r>
            <a:r>
              <a:rPr lang="en-US" dirty="0"/>
              <a:t> - &gt; selection of best params - &gt; Cross Validated prediction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8F66EB83-5575-DDC0-CD9C-65865F6CAD0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9790" y="2997606"/>
            <a:ext cx="5352145" cy="3578292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7E9DC02D-AB89-450C-9EF0-E2AE555F9E3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68426" y="2867904"/>
            <a:ext cx="5617452" cy="370799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8604968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F1B7C449-7CC1-F8E6-6F11-DA9D8F9813D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9370" y="847858"/>
            <a:ext cx="5461730" cy="5595193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664CE599-ABDD-1BEB-D5EE-7174F87E6BD6}"/>
              </a:ext>
            </a:extLst>
          </p:cNvPr>
          <p:cNvSpPr txBox="1"/>
          <p:nvPr/>
        </p:nvSpPr>
        <p:spPr>
          <a:xfrm>
            <a:off x="959370" y="232348"/>
            <a:ext cx="1094282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Cross Validated prediction on 5 folds, based on top 71 Dragon features of molecules from Waka Data set</a:t>
            </a:r>
            <a:endParaRPr lang="LID4096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9B57E8A0-D5FC-3FDC-A023-0ADAA19A23A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13320" y="3028858"/>
            <a:ext cx="3888870" cy="3515965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D50E8E31-25F3-D5DA-8C78-60B31469C81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760656" y="746296"/>
            <a:ext cx="3147841" cy="21616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2912099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3FE60B6F-CADC-FE76-1467-EFF702F0740B}"/>
              </a:ext>
            </a:extLst>
          </p:cNvPr>
          <p:cNvSpPr txBox="1"/>
          <p:nvPr/>
        </p:nvSpPr>
        <p:spPr>
          <a:xfrm>
            <a:off x="408562" y="402077"/>
            <a:ext cx="11199778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Top 71 descriptors selected by XGBOOST: </a:t>
            </a:r>
          </a:p>
          <a:p>
            <a:endParaRPr lang="en-US" dirty="0"/>
          </a:p>
          <a:p>
            <a:r>
              <a:rPr lang="" sz="1200" dirty="0"/>
              <a:t>['ATS6m', 'Vindex', 'RDF015s', 'MPC08', 'SpMaxA_AEA_dm_', 'Eig07_AEA_dm_', 'RDF065s', 'SpMax6_Bh_s_', 'ATS5m', 'HATS0v', 'SpPosA_RG', 'GGI6', 'Mor08m', 'VE3_RG', 'VE2_B_m_', 'Eta_betaS_A', 'SM11_AEA_bo_', 'RDF010s', 'H2v', 'Mor03v', 'SpMax7_Bh_s_', 'RDF050m', 'Mor11u', 'ChiA_B_m_', 'VE3sign_B_v_', 'G2m', 'SM12_AEA_bo_', 'R6u', 'HATS8m', 'ATSC8e', 'TDB01m', 'SpMax2_Bh_s_', 'RDF025s', 'Mor05m', 'ZM1Mad', 'HGM', 'TDB10u', 'ATSC6m', 'Mor11v', 'Mor05v', 'GGI3', 'Am', 'Mor07m', 'VE1sign_B_v_', 'R5s', 'H3u', 'AVS_B_s_', 'SpMax6_Bh_m_', 'SM09_AEA_dm_', 'H6s', 'Mor04v', 'MATS1e', 'SpMin1_Bh_s_', 'RDF025u', 'Mor29u', 'JGI2', 'H7s', 'ATSC1e', 'MATS1v', 'Mor13m', 'HATS0p', 'VAR', 'R6v', 'TDB06m', 'Gm', 'RDF060m', 'SsOH', 'Mor11p', 'Mor03s', 'Mor10s', 'Mor32v']</a:t>
            </a:r>
            <a:endParaRPr lang="LID4096" sz="120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BF8392B-3B5B-9A3B-DA5E-94F6CE4B8EF8}"/>
              </a:ext>
            </a:extLst>
          </p:cNvPr>
          <p:cNvSpPr txBox="1"/>
          <p:nvPr/>
        </p:nvSpPr>
        <p:spPr>
          <a:xfrm>
            <a:off x="499353" y="3022060"/>
            <a:ext cx="4286655" cy="28623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Strongly represented:</a:t>
            </a:r>
          </a:p>
          <a:p>
            <a:endParaRPr lang="en-US" b="1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" dirty="0"/>
              <a:t>3D molecular shape and geometry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" dirty="0"/>
              <a:t>Molecular size and bulk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" dirty="0"/>
              <a:t>Electronic structure and charge distribution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" dirty="0"/>
              <a:t>Branching and topological complexity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" dirty="0"/>
              <a:t>Mass-weighted structural information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" dirty="0"/>
              <a:t>Hydrogen-bonding functionality</a:t>
            </a:r>
            <a:endParaRPr lang="en-US" dirty="0"/>
          </a:p>
          <a:p>
            <a:endParaRPr lang="LID4096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4E12D3A-CD2A-AF92-E206-0070A8365170}"/>
              </a:ext>
            </a:extLst>
          </p:cNvPr>
          <p:cNvSpPr txBox="1"/>
          <p:nvPr/>
        </p:nvSpPr>
        <p:spPr>
          <a:xfrm>
            <a:off x="6361889" y="3714557"/>
            <a:ext cx="5648528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" dirty="0"/>
              <a:t>Maximum odor intensity appears to be driven mainly by molecular 3D shape, size, topology, and electronic structure, whereas classical descriptors such as LogP, PSA, and simple hydrogen-bond counts were not identified as major predictors.</a:t>
            </a:r>
            <a:endParaRPr lang="LID4096" dirty="0"/>
          </a:p>
        </p:txBody>
      </p:sp>
      <p:sp>
        <p:nvSpPr>
          <p:cNvPr id="7" name="Arrow: Right 6">
            <a:extLst>
              <a:ext uri="{FF2B5EF4-FFF2-40B4-BE49-F238E27FC236}">
                <a16:creationId xmlns:a16="http://schemas.microsoft.com/office/drawing/2014/main" id="{301F3145-C6F4-5A82-9D8C-20DDB0AABE5C}"/>
              </a:ext>
            </a:extLst>
          </p:cNvPr>
          <p:cNvSpPr/>
          <p:nvPr/>
        </p:nvSpPr>
        <p:spPr>
          <a:xfrm>
            <a:off x="5064868" y="4312596"/>
            <a:ext cx="953311" cy="168613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08892532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5D9BAA38-63BC-936A-A392-40C9C21022EC}"/>
              </a:ext>
            </a:extLst>
          </p:cNvPr>
          <p:cNvSpPr txBox="1"/>
          <p:nvPr/>
        </p:nvSpPr>
        <p:spPr>
          <a:xfrm>
            <a:off x="541867" y="399627"/>
            <a:ext cx="999066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Imputing of Vapor Pressure – theoretically should improve Imax prediction</a:t>
            </a:r>
            <a:endParaRPr lang="LID4096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2A4D7B89-6891-63DB-5BF1-62348BA4E724}"/>
              </a:ext>
            </a:extLst>
          </p:cNvPr>
          <p:cNvSpPr txBox="1"/>
          <p:nvPr/>
        </p:nvSpPr>
        <p:spPr>
          <a:xfrm>
            <a:off x="541867" y="768959"/>
            <a:ext cx="11494347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We have succeeded to retrieve 416 molecules with experimental data for VP from </a:t>
            </a:r>
            <a:r>
              <a:rPr lang="en-US" dirty="0" err="1"/>
              <a:t>Pubchem</a:t>
            </a:r>
            <a:r>
              <a:rPr lang="en-US" dirty="0"/>
              <a:t>, only 66 were from Wakayama dataset.</a:t>
            </a:r>
          </a:p>
          <a:p>
            <a:endParaRPr lang="en-US" dirty="0"/>
          </a:p>
          <a:p>
            <a:r>
              <a:rPr lang="en-US" dirty="0"/>
              <a:t> </a:t>
            </a:r>
            <a:endParaRPr lang="LID4096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6FBB98D-7539-AEDC-B889-D623E61A9F8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9666" y="2094806"/>
            <a:ext cx="7365516" cy="39942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7744534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41C442AF-0FE3-ED24-7BE0-15559A32BD90}"/>
              </a:ext>
            </a:extLst>
          </p:cNvPr>
          <p:cNvSpPr txBox="1"/>
          <p:nvPr/>
        </p:nvSpPr>
        <p:spPr>
          <a:xfrm>
            <a:off x="461740" y="191239"/>
            <a:ext cx="92456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Imputing of Boiling point</a:t>
            </a:r>
            <a:endParaRPr lang="LID4096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77F22C23-D392-98C5-FBB5-376334C3092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9786" y="560571"/>
            <a:ext cx="4714672" cy="3211742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188CA29D-828B-48AB-C9D8-A333AEE8E69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78584" y="742349"/>
            <a:ext cx="5300442" cy="5373301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4A2633AE-D7B9-DDD7-4C40-E1BFECAB463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5081" y="3603553"/>
            <a:ext cx="4012266" cy="318311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5470986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70EF1521-98DE-D5D1-4804-917C3A0AC73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3413" y="768029"/>
            <a:ext cx="4557214" cy="551105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CB10D9B6-B697-FAF9-E335-809652E796B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3413" y="1466057"/>
            <a:ext cx="4488910" cy="5118932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D9DCF642-64C2-1883-26A9-64FB0A05455F}"/>
              </a:ext>
            </a:extLst>
          </p:cNvPr>
          <p:cNvSpPr txBox="1"/>
          <p:nvPr/>
        </p:nvSpPr>
        <p:spPr>
          <a:xfrm>
            <a:off x="682052" y="149902"/>
            <a:ext cx="858186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/>
              <a:t>Additional Molecules features from </a:t>
            </a:r>
            <a:r>
              <a:rPr lang="en-US" sz="2800" b="1" dirty="0" err="1"/>
              <a:t>RDKit</a:t>
            </a:r>
            <a:endParaRPr lang="LID4096" sz="2800" b="1" dirty="0"/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BA0671D1-E983-6B46-5B7D-1537A74A89B1}"/>
              </a:ext>
            </a:extLst>
          </p:cNvPr>
          <p:cNvGrpSpPr/>
          <p:nvPr/>
        </p:nvGrpSpPr>
        <p:grpSpPr>
          <a:xfrm>
            <a:off x="5553017" y="765421"/>
            <a:ext cx="6433009" cy="2663579"/>
            <a:chOff x="5553017" y="765421"/>
            <a:chExt cx="6433009" cy="2663579"/>
          </a:xfrm>
        </p:grpSpPr>
        <p:pic>
          <p:nvPicPr>
            <p:cNvPr id="7" name="Picture 6">
              <a:extLst>
                <a:ext uri="{FF2B5EF4-FFF2-40B4-BE49-F238E27FC236}">
                  <a16:creationId xmlns:a16="http://schemas.microsoft.com/office/drawing/2014/main" id="{D8652C15-5E9F-D9BA-52D1-C288636343C6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5553017" y="765421"/>
              <a:ext cx="6000619" cy="2663579"/>
            </a:xfrm>
            <a:prstGeom prst="rect">
              <a:avLst/>
            </a:prstGeom>
          </p:spPr>
        </p:pic>
        <p:pic>
          <p:nvPicPr>
            <p:cNvPr id="10" name="Picture 9">
              <a:extLst>
                <a:ext uri="{FF2B5EF4-FFF2-40B4-BE49-F238E27FC236}">
                  <a16:creationId xmlns:a16="http://schemas.microsoft.com/office/drawing/2014/main" id="{F8D2ECCA-3635-64C4-4CDC-19B72EDF45C8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9769980" y="1446356"/>
              <a:ext cx="2216046" cy="1770766"/>
            </a:xfrm>
            <a:prstGeom prst="rect">
              <a:avLst/>
            </a:prstGeom>
          </p:spPr>
        </p:pic>
      </p:grpSp>
      <p:sp>
        <p:nvSpPr>
          <p:cNvPr id="11" name="TextBox 10">
            <a:extLst>
              <a:ext uri="{FF2B5EF4-FFF2-40B4-BE49-F238E27FC236}">
                <a16:creationId xmlns:a16="http://schemas.microsoft.com/office/drawing/2014/main" id="{33586142-3F00-9790-8516-35BFF5D1CCC9}"/>
              </a:ext>
            </a:extLst>
          </p:cNvPr>
          <p:cNvSpPr txBox="1"/>
          <p:nvPr/>
        </p:nvSpPr>
        <p:spPr>
          <a:xfrm>
            <a:off x="5420382" y="4639455"/>
            <a:ext cx="6415790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" b="1" dirty="0"/>
              <a:t>RDKit is an open-source cheminformatics toolkit that converts molecular structures into numerical descriptors representing properties such as molecular size, shape, topology, polarity, and hydrogen-bonding ability. These descriptors can then be used as input features for machine learning models.</a:t>
            </a:r>
            <a:endParaRPr lang="LID4096" b="1" dirty="0"/>
          </a:p>
        </p:txBody>
      </p:sp>
    </p:spTree>
    <p:extLst>
      <p:ext uri="{BB962C8B-B14F-4D97-AF65-F5344CB8AC3E}">
        <p14:creationId xmlns:p14="http://schemas.microsoft.com/office/powerpoint/2010/main" val="56261288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109972E1-C98D-4CED-76C8-534D209ACC69}"/>
              </a:ext>
            </a:extLst>
          </p:cNvPr>
          <p:cNvSpPr txBox="1"/>
          <p:nvPr/>
        </p:nvSpPr>
        <p:spPr>
          <a:xfrm>
            <a:off x="433387" y="307298"/>
            <a:ext cx="500804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Best Results for Wakayama</a:t>
            </a:r>
            <a:endParaRPr lang="LID4096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66F9BD63-B55A-BB57-1DB9-ECCFF715D04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3387" y="623887"/>
            <a:ext cx="11325225" cy="56102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7242789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0EEE2FD6-2DFC-A969-5F04-36B551760B0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2256" y="1285211"/>
            <a:ext cx="5537680" cy="4173324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3800DFF4-402B-AFFB-A1D9-A9B6B2E2DA1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6000" y="1285211"/>
            <a:ext cx="5537680" cy="4173324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D3689145-5B20-CAD8-D5CC-4858ABCAB374}"/>
              </a:ext>
            </a:extLst>
          </p:cNvPr>
          <p:cNvSpPr txBox="1"/>
          <p:nvPr/>
        </p:nvSpPr>
        <p:spPr>
          <a:xfrm>
            <a:off x="779721" y="382772"/>
            <a:ext cx="3969488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/>
              <a:t>Residuals analysis</a:t>
            </a:r>
            <a:endParaRPr lang="LID4096" sz="2800" b="1" dirty="0"/>
          </a:p>
        </p:txBody>
      </p:sp>
    </p:spTree>
    <p:extLst>
      <p:ext uri="{BB962C8B-B14F-4D97-AF65-F5344CB8AC3E}">
        <p14:creationId xmlns:p14="http://schemas.microsoft.com/office/powerpoint/2010/main" val="308530938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8915584A-2C70-D074-C19F-DA1722793EB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89867" y="279519"/>
            <a:ext cx="3734323" cy="3329243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8957811C-F5C8-2620-A4F6-EF048EA4578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76475" y="356657"/>
            <a:ext cx="3715808" cy="3252105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B4A66DC3-40BE-546C-5883-46F9951555C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89867" y="3740424"/>
            <a:ext cx="3525973" cy="3085960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01B92B6E-0F2F-7F47-7F78-B7D67654E58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376475" y="3740424"/>
            <a:ext cx="3373435" cy="3085960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D5CDC19F-8508-6170-60B5-E54576F7C4F0}"/>
              </a:ext>
            </a:extLst>
          </p:cNvPr>
          <p:cNvSpPr txBox="1"/>
          <p:nvPr/>
        </p:nvSpPr>
        <p:spPr>
          <a:xfrm>
            <a:off x="423333" y="356657"/>
            <a:ext cx="303106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/>
              <a:t>UMAP</a:t>
            </a:r>
            <a:endParaRPr lang="LID4096" sz="2400" b="1" dirty="0"/>
          </a:p>
        </p:txBody>
      </p:sp>
    </p:spTree>
    <p:extLst>
      <p:ext uri="{BB962C8B-B14F-4D97-AF65-F5344CB8AC3E}">
        <p14:creationId xmlns:p14="http://schemas.microsoft.com/office/powerpoint/2010/main" val="304041358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8C56F656-5E9A-9F03-A91C-9FA1DE1E8958}"/>
              </a:ext>
            </a:extLst>
          </p:cNvPr>
          <p:cNvSpPr txBox="1"/>
          <p:nvPr/>
        </p:nvSpPr>
        <p:spPr>
          <a:xfrm>
            <a:off x="487600" y="0"/>
            <a:ext cx="10554586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/>
              <a:t>Main trials to improve the results</a:t>
            </a:r>
            <a:endParaRPr lang="LID4096" sz="2000" b="1" dirty="0"/>
          </a:p>
        </p:txBody>
      </p: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30E99A17-3295-BCC8-0EFC-E24AE1AE514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17946576"/>
              </p:ext>
            </p:extLst>
          </p:nvPr>
        </p:nvGraphicFramePr>
        <p:xfrm>
          <a:off x="568840" y="462465"/>
          <a:ext cx="10659380" cy="6243975"/>
        </p:xfrm>
        <a:graphic>
          <a:graphicData uri="http://schemas.openxmlformats.org/drawingml/2006/table">
            <a:tbl>
              <a:tblPr firstRow="1" bandRow="1">
                <a:tableStyleId>{9D7B26C5-4107-4FEC-AEDC-1716B250A1EF}</a:tableStyleId>
              </a:tblPr>
              <a:tblGrid>
                <a:gridCol w="6149896">
                  <a:extLst>
                    <a:ext uri="{9D8B030D-6E8A-4147-A177-3AD203B41FA5}">
                      <a16:colId xmlns:a16="http://schemas.microsoft.com/office/drawing/2014/main" val="3879606949"/>
                    </a:ext>
                  </a:extLst>
                </a:gridCol>
                <a:gridCol w="2442197">
                  <a:extLst>
                    <a:ext uri="{9D8B030D-6E8A-4147-A177-3AD203B41FA5}">
                      <a16:colId xmlns:a16="http://schemas.microsoft.com/office/drawing/2014/main" val="2217900553"/>
                    </a:ext>
                  </a:extLst>
                </a:gridCol>
                <a:gridCol w="2067287">
                  <a:extLst>
                    <a:ext uri="{9D8B030D-6E8A-4147-A177-3AD203B41FA5}">
                      <a16:colId xmlns:a16="http://schemas.microsoft.com/office/drawing/2014/main" val="2236560047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r>
                        <a:rPr lang="en-US" sz="1400" dirty="0"/>
                        <a:t>Hypothesis</a:t>
                      </a:r>
                      <a:endParaRPr lang="LID4096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Bast MAE (LMS)</a:t>
                      </a:r>
                      <a:endParaRPr lang="LID4096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R2</a:t>
                      </a:r>
                      <a:endParaRPr lang="LID4096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73138366"/>
                  </a:ext>
                </a:extLst>
              </a:tr>
              <a:tr h="395945"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lang="en-US" sz="14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Dummy (strategy = ‘mean’)</a:t>
                      </a:r>
                      <a:endParaRPr lang="LID4096" sz="14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lang="en-US" sz="14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12.137</a:t>
                      </a:r>
                      <a:endParaRPr lang="LID4096" sz="14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lang="en-US" sz="14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-0.008</a:t>
                      </a:r>
                      <a:endParaRPr lang="LID4096" sz="14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10361843"/>
                  </a:ext>
                </a:extLst>
              </a:tr>
              <a:tr h="395945"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lang="en-US" sz="14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Dragon top 71 features - </a:t>
                      </a:r>
                      <a:r>
                        <a:rPr lang="en-US" sz="1400" kern="1200" dirty="0" err="1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XGBoost</a:t>
                      </a:r>
                      <a:endParaRPr lang="LID4096" sz="14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lang="en-US" sz="14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7.51 </a:t>
                      </a:r>
                      <a:endParaRPr lang="LID4096" sz="14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lang="en-US" sz="14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0.62</a:t>
                      </a:r>
                      <a:endParaRPr lang="LID4096" sz="14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61021299"/>
                  </a:ext>
                </a:extLst>
              </a:tr>
              <a:tr h="395945"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lang="en-US" sz="14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Base + log(VP) - </a:t>
                      </a:r>
                      <a:r>
                        <a:rPr lang="en-US" sz="1400" kern="1200" dirty="0" err="1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XGBoost</a:t>
                      </a:r>
                      <a:endParaRPr lang="LID4096" sz="14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lang="en-US" sz="14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7.69</a:t>
                      </a:r>
                      <a:endParaRPr lang="LID4096" sz="14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lang="en-US" sz="14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0.61</a:t>
                      </a:r>
                      <a:endParaRPr lang="LID4096" sz="14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35159190"/>
                  </a:ext>
                </a:extLst>
              </a:tr>
              <a:tr h="395945"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lang="en-US" sz="14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Base + log(VP) + BP - </a:t>
                      </a:r>
                      <a:r>
                        <a:rPr lang="en-US" sz="1400" kern="1200" dirty="0" err="1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XGBoost</a:t>
                      </a:r>
                      <a:endParaRPr lang="LID4096" sz="14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lang="en-US" sz="14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7.77</a:t>
                      </a:r>
                      <a:endParaRPr lang="LID4096" sz="14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lang="en-US" sz="14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0.6</a:t>
                      </a:r>
                      <a:endParaRPr lang="LID4096" sz="14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493301"/>
                  </a:ext>
                </a:extLst>
              </a:tr>
              <a:tr h="395945"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lang="en-US" sz="14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Only log(VP) - </a:t>
                      </a:r>
                      <a:r>
                        <a:rPr lang="en-US" sz="1400" kern="1200" dirty="0" err="1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XGBoost</a:t>
                      </a:r>
                      <a:endParaRPr lang="LID4096" sz="14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lang="en-US" sz="14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9.97</a:t>
                      </a:r>
                      <a:endParaRPr lang="LID4096" sz="14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lang="en-US" sz="14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0.3</a:t>
                      </a:r>
                      <a:endParaRPr lang="LID4096" sz="14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66218464"/>
                  </a:ext>
                </a:extLst>
              </a:tr>
              <a:tr h="395945"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lang="en-US" sz="14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71 features - </a:t>
                      </a:r>
                      <a:r>
                        <a:rPr lang="en-US" sz="1400" kern="1200" dirty="0" err="1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CatBoost</a:t>
                      </a:r>
                      <a:endParaRPr lang="LID4096" sz="14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lang="en-US" sz="14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7.59</a:t>
                      </a:r>
                      <a:endParaRPr lang="LID4096" sz="14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lang="en-US" sz="14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0.62</a:t>
                      </a:r>
                      <a:endParaRPr lang="LID4096" sz="14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63036125"/>
                  </a:ext>
                </a:extLst>
              </a:tr>
              <a:tr h="395945"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lang="en-US" sz="14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71 features + log(VP) + BP + </a:t>
                      </a:r>
                      <a:r>
                        <a:rPr lang="en-US" sz="1400" kern="1200" dirty="0" err="1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RDKit</a:t>
                      </a:r>
                      <a:r>
                        <a:rPr lang="en-US" sz="14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(20) features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lang="en-US" sz="14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7.37</a:t>
                      </a:r>
                      <a:endParaRPr lang="LID4096" sz="14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lang="en-US" sz="14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0.63</a:t>
                      </a:r>
                      <a:endParaRPr lang="LID4096" sz="14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72126205"/>
                  </a:ext>
                </a:extLst>
              </a:tr>
              <a:tr h="395945"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lang="en-US" sz="1400" kern="1200" dirty="0" err="1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Umap</a:t>
                      </a:r>
                      <a:r>
                        <a:rPr lang="en-US" sz="14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 as additional features </a:t>
                      </a:r>
                      <a:endParaRPr lang="LID4096" sz="14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lang="en-US" sz="14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7.71</a:t>
                      </a:r>
                      <a:endParaRPr lang="LID4096" sz="14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lang="en-US" sz="14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0.61</a:t>
                      </a:r>
                      <a:endParaRPr lang="LID4096" sz="14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5553074"/>
                  </a:ext>
                </a:extLst>
              </a:tr>
              <a:tr h="395945"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lang="en-US" sz="14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Random forest </a:t>
                      </a:r>
                      <a:endParaRPr lang="LID4096" sz="14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lang="en-US" sz="14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7.76</a:t>
                      </a:r>
                      <a:endParaRPr lang="LID4096" sz="14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lang="en-US" sz="14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0.60</a:t>
                      </a:r>
                      <a:endParaRPr lang="LID4096" sz="14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35774907"/>
                  </a:ext>
                </a:extLst>
              </a:tr>
              <a:tr h="395945"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lang="en-US" sz="14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SVR Kernel</a:t>
                      </a:r>
                      <a:endParaRPr lang="LID4096" sz="14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lang="en-US" sz="14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8.04</a:t>
                      </a:r>
                      <a:endParaRPr lang="LID4096" sz="14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lang="en-US" sz="14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0.59</a:t>
                      </a:r>
                      <a:endParaRPr lang="LID4096" sz="14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64004484"/>
                  </a:ext>
                </a:extLst>
              </a:tr>
              <a:tr h="395945"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lang="" sz="14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Gaussian Process</a:t>
                      </a:r>
                      <a:endParaRPr lang="LID4096" sz="14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lang="en-US" sz="14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7.94</a:t>
                      </a:r>
                      <a:endParaRPr lang="LID4096" sz="14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lang="en-US" sz="14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0.59</a:t>
                      </a:r>
                      <a:endParaRPr lang="LID4096" sz="14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72120116"/>
                  </a:ext>
                </a:extLst>
              </a:tr>
              <a:tr h="395945"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lang="" sz="14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Stacking + GPR</a:t>
                      </a:r>
                      <a:endParaRPr lang="LID4096" sz="14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lang="en-US" sz="14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7.71</a:t>
                      </a:r>
                      <a:endParaRPr lang="LID4096" sz="14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lang="en-US" sz="14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0.61</a:t>
                      </a:r>
                      <a:endParaRPr lang="LID4096" sz="14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49508325"/>
                  </a:ext>
                </a:extLst>
              </a:tr>
              <a:tr h="395945"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lang="" sz="14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Tail specialist regressors (Separate regressors for low/high tails)</a:t>
                      </a:r>
                      <a:endParaRPr lang="LID4096" sz="14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lang="en-US" sz="14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7.57</a:t>
                      </a:r>
                      <a:endParaRPr lang="LID4096" sz="14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lang="en-US" sz="14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0.61</a:t>
                      </a:r>
                      <a:endParaRPr lang="LID4096" sz="14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6158971"/>
                  </a:ext>
                </a:extLst>
              </a:tr>
              <a:tr h="395945"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lang="" sz="14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Tail residual experts (Correct only low/high intensity molecules)</a:t>
                      </a:r>
                      <a:endParaRPr lang="LID4096" sz="14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lang="en-US" sz="14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7.53</a:t>
                      </a:r>
                      <a:endParaRPr lang="LID4096" sz="14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lang="en-US" sz="14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0.62</a:t>
                      </a:r>
                      <a:endParaRPr lang="LID4096" sz="14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59661493"/>
                  </a:ext>
                </a:extLst>
              </a:tr>
              <a:tr h="395945"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lang="" sz="14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Global residual learning (Predict residual from classifier outputs)</a:t>
                      </a:r>
                      <a:endParaRPr lang="LID4096" sz="14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lang="en-US" sz="14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7.53</a:t>
                      </a:r>
                      <a:endParaRPr lang="LID4096" sz="14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lang="en-US" sz="14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0.62</a:t>
                      </a:r>
                      <a:endParaRPr lang="LID4096" sz="14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8679167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39426378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4948B8EC-12C2-8C32-BDF2-4871C7C52BDD}"/>
              </a:ext>
            </a:extLst>
          </p:cNvPr>
          <p:cNvSpPr txBox="1"/>
          <p:nvPr/>
        </p:nvSpPr>
        <p:spPr>
          <a:xfrm>
            <a:off x="609600" y="626533"/>
            <a:ext cx="10820400" cy="604780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" b="1" dirty="0"/>
              <a:t>Main findings</a:t>
            </a:r>
          </a:p>
          <a:p>
            <a:endParaRPr lang="" b="1" dirty="0"/>
          </a:p>
          <a:p>
            <a:r>
              <a:rPr lang="" b="1" dirty="0"/>
              <a:t>Best model:</a:t>
            </a:r>
            <a:r>
              <a:rPr lang="" dirty="0"/>
              <a:t> XGBoost + optimized Dragon/RDKit descriptors (</a:t>
            </a:r>
            <a:r>
              <a:rPr lang="" b="1" dirty="0"/>
              <a:t>MAE = 7.37</a:t>
            </a:r>
            <a:r>
              <a:rPr lang="" dirty="0"/>
              <a:t>, </a:t>
            </a:r>
            <a:r>
              <a:rPr lang="" b="1" dirty="0"/>
              <a:t>R² = 0.63</a:t>
            </a:r>
            <a:r>
              <a:rPr lang="" dirty="0"/>
              <a:t>).</a:t>
            </a:r>
          </a:p>
          <a:p>
            <a:pPr>
              <a:lnSpc>
                <a:spcPct val="150000"/>
              </a:lnSpc>
            </a:pPr>
            <a:r>
              <a:rPr lang="" dirty="0"/>
              <a:t> 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" dirty="0"/>
              <a:t>RDKit descriptors provided the most meaningful improvement beyond Dragon descriptors. 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" dirty="0"/>
              <a:t>Volatility-related features (log vapor pressure, boiling point) did not improve the final optimized model. 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" dirty="0"/>
              <a:t>Alternative regressors (CatBoost, Random Forest, Extra Trees, SVR, Gaussian Process) did not outperform XGBoost. 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" dirty="0"/>
              <a:t>Ensemble learning (stacking, residual experts, tail experts) produced little or no additional improvement. 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" dirty="0"/>
              <a:t>UMAP revealed a clear chemical-intensity manifold, but its coordinates did not improve prediction accuracy. 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" dirty="0"/>
              <a:t>Remaining errors are concentrated at the </a:t>
            </a:r>
            <a:r>
              <a:rPr lang="" b="1" dirty="0"/>
              <a:t>low and high intensity tails</a:t>
            </a:r>
            <a:r>
              <a:rPr lang="" dirty="0"/>
              <a:t>, suggesting that the current limitation is likely due to dataset complexity and/or psychophysical variability rather than the regression algorithm itself.</a:t>
            </a:r>
          </a:p>
          <a:p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75206058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5DE9527C-320E-8C56-9BD4-4212ADD22E52}"/>
              </a:ext>
            </a:extLst>
          </p:cNvPr>
          <p:cNvSpPr txBox="1"/>
          <p:nvPr/>
        </p:nvSpPr>
        <p:spPr>
          <a:xfrm>
            <a:off x="471253" y="299335"/>
            <a:ext cx="778192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We have additional experimental data set, with more evaluations. All the evaluations are made by single perfumer during time period of 2-3 years</a:t>
            </a:r>
            <a:endParaRPr lang="LID4096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5A6FF76C-8C6C-DCDD-D2F5-8D55DF7FB80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9027" y="1466459"/>
            <a:ext cx="5362575" cy="43148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64353469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63985324-8AF6-F972-756F-B7F3FCA5EC2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3823" y="1475906"/>
            <a:ext cx="5634975" cy="3606384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DA0FBF47-5F33-F7F6-FC30-1CDF93BC8B7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31039" y="1093370"/>
            <a:ext cx="5001328" cy="5030113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1017A5DD-A986-8219-6613-F614C187CB48}"/>
              </a:ext>
            </a:extLst>
          </p:cNvPr>
          <p:cNvSpPr txBox="1"/>
          <p:nvPr/>
        </p:nvSpPr>
        <p:spPr>
          <a:xfrm>
            <a:off x="682051" y="404734"/>
            <a:ext cx="726273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/>
              <a:t>XGBOOST CV prediction of Imax based on top 165 features</a:t>
            </a:r>
            <a:endParaRPr lang="LID4096" sz="2000" b="1" dirty="0"/>
          </a:p>
        </p:txBody>
      </p:sp>
    </p:spTree>
    <p:extLst>
      <p:ext uri="{BB962C8B-B14F-4D97-AF65-F5344CB8AC3E}">
        <p14:creationId xmlns:p14="http://schemas.microsoft.com/office/powerpoint/2010/main" val="221462445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17511</TotalTime>
  <Words>1911</Words>
  <Application>Microsoft Office PowerPoint</Application>
  <PresentationFormat>Widescreen</PresentationFormat>
  <Paragraphs>213</Paragraphs>
  <Slides>19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3" baseType="lpstr">
      <vt:lpstr>Aptos</vt:lpstr>
      <vt:lpstr>Aptos Display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Kiril Kiriyevsky</dc:creator>
  <cp:lastModifiedBy>Kiril Kiriyevsky</cp:lastModifiedBy>
  <cp:revision>16</cp:revision>
  <dcterms:created xsi:type="dcterms:W3CDTF">2026-06-13T05:11:22Z</dcterms:created>
  <dcterms:modified xsi:type="dcterms:W3CDTF">2026-06-28T08:43:16Z</dcterms:modified>
</cp:coreProperties>
</file>