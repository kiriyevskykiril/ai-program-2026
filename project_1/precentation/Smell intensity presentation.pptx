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731" autoAdjust="0"/>
    <p:restoredTop sz="88543" autoAdjust="0"/>
  </p:normalViewPr>
  <p:slideViewPr>
    <p:cSldViewPr snapToGrid="0">
      <p:cViewPr>
        <p:scale>
          <a:sx n="100" d="100"/>
          <a:sy n="100" d="100"/>
        </p:scale>
        <p:origin x="13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4B3431-D7CA-4884-BBC8-551033F4B8B0}" type="datetimeFigureOut">
              <a:rPr lang="LID4096" smtClean="0"/>
              <a:t>06/13/2026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081A42-54A3-4E6D-AAAD-815597063FD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8186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" dirty="0"/>
              <a:t>Each dot represents the average score of one evaluator. The box shows the middle 50% of evaluators, and σ shows the standard deviation between evaluators. For several conditions, σ is around 8–13 LMS units, supporting MAE ≈ 8 LMS as a reasonable target for model performance.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081A42-54A3-4E6D-AAAD-815597063FD7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769487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2921E-6127-1F89-05F7-B67FAA0F87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BC84EE-0075-40D9-6C43-52FF94DA0B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6FE7EB-0485-3B41-E87F-E7A6F35F8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06/13/2026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EFF8A3-D9FD-892C-EF01-6C9B9AEE5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0CB9D-F26B-DF9D-876A-D1ED18353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83872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96F6B-611E-A992-D2CE-5BC959F53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C0BFF-4B03-A40F-B072-981B933A7A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D4331-591B-B421-BC64-EE759DE15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06/13/2026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43754-8667-3B1E-01F9-DCDAEAA8F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A43B70-D50E-FB02-07CA-8A365FB90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0497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9520-9EE1-DD2F-CA90-7D31D93AD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5387FE-B802-95A2-2EEA-22BE65E2B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0B6EF-5C40-AA0F-CF94-B358E3044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06/13/2026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B9852C-F922-D660-B839-41F00A0AB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A875C-18C3-3540-986C-C7DDC56C6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6975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FDF1D-DA35-EFC2-E8FA-4E3F766AB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9ECD6-C263-0995-9C5B-3F3F191FE1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62F5CC-5855-67BD-CA65-428E6BD804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BFE252-2D78-5D31-DB1B-90AC66E89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06/13/2026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2B3511-20DA-3FE6-C125-675F812C3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C281AD-A108-ED57-619A-B47CA86AE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271580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05ECC-6FEE-00EF-E50A-F831DF1C8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4D178-4723-8AC1-6947-F4A705C2E7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8FEB43-3E05-1054-C018-D75AD80374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2E625C-53B4-3C91-B14D-17630D7809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06F445-BF20-5ABA-14FC-D497982211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7BEC11-F9FC-DFAB-9702-DFD35F3E3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06/13/2026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303C62-D48A-B659-88C6-E314A5977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1E6590-F6FD-0AE0-8567-D58608877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07907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CC91F-CAF7-F26A-C7FA-F89A6E8AC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012508-62B2-DBD6-FB9B-D943B6915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06/13/2026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0F615-2071-79FA-02A2-20F5547FF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C8A9B2-324F-8B2B-7825-C726808EE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92488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C61C30-03DD-CA65-ED2E-DA29A42BF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06/13/2026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56033E-25F0-77AC-49C2-A78D5B0D6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762F6D-03CC-756A-B15F-3ABBB9AB0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30900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B8665-38D7-E4F9-D6EB-6CF4C6C42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8C461-93E9-AAC4-3467-B5A885FD0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ACBDA2-3F6F-46D9-F796-7AD275356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A55A0E-086B-43CF-142A-D84260C89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06/13/2026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E5BBF-7E1E-A31F-BBDD-80D04CEDB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B9C893-8F0C-6678-310F-94F68B55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43782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887A5-DA5B-E836-73F3-EB6CECF5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6D2CC51-0439-6F88-699A-F5BC186B11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D7657E-E4FE-AE9B-6EEC-BAE51947AF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80FA68-A3CC-A455-A74D-3C9088304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06/13/2026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0E4078-5F80-5733-1720-553EAD62A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F116E3-9823-833B-2E6A-240DC483E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72358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F44EB-6EF6-D04E-90EF-A365467E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CBDCEE-030B-5225-9C81-4ECA26E333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E5D2C7-2A09-05AA-F1D1-7EA8E84E7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06/13/2026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920BC-5960-3341-862E-CC364FEBB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745EB5-5F0F-F9F3-0358-AB3206B44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25951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C8C226-9F15-6920-1F04-D0A2461DAD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3C4A0A-0C95-2381-3DD0-ECBE6A74D0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CC05D-4B56-2A86-54D2-D38023DBC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06/13/2026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3F616F-0515-84BF-DD3E-EBDBDDDC7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8F0DFD-C40D-3D79-82D3-89FCB2BBF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648800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40ADF8-FC18-84F2-BDD8-CD38BE06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A21FEA-8D34-E7D1-6DD9-D4BA2695C3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123196-A985-9A4C-596C-EB0542B04D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BD65A3-F498-4B74-9815-EB2DD0BB06C6}" type="datetimeFigureOut">
              <a:rPr lang="LID4096" smtClean="0"/>
              <a:t>06/13/2026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0589DA-B38E-59BC-BA88-82C89DCB9A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BB0102-F466-DD2E-2A5D-D68ABEB345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99192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94F118-E43C-A7AD-5EC1-FA6DF7F25EB9}"/>
              </a:ext>
            </a:extLst>
          </p:cNvPr>
          <p:cNvSpPr txBox="1"/>
          <p:nvPr/>
        </p:nvSpPr>
        <p:spPr>
          <a:xfrm>
            <a:off x="748703" y="650513"/>
            <a:ext cx="1089915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goal of the project: Prediction of the odor intensity of fragrance molecules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real word problem: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Odor intensity determines how much of an ingredient is needed in a fragrance formula.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Intensity as a function of concentration is essential for fragrance design and reformulation.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Highly intense ingredients are economically attractive because lower dosages are required.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Experimental intensity measurements are costly, slow, and require trained sensory panels.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Predicting intensity from molecular properties could accelerate ingredient discovery and reduce R&amp;D costs.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" dirty="0"/>
              <a:t>The mechanisms of odor perception are not fully understood, and fragrance development still relies heavily on expert knowledge and experience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3141004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5BABD6-1A96-9F71-774C-E1DF982A4CAB}"/>
              </a:ext>
            </a:extLst>
          </p:cNvPr>
          <p:cNvSpPr txBox="1"/>
          <p:nvPr/>
        </p:nvSpPr>
        <p:spPr>
          <a:xfrm>
            <a:off x="331625" y="315389"/>
            <a:ext cx="39828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Intensity behavior (different threshold)</a:t>
            </a:r>
            <a:endParaRPr lang="LID4096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05899B-29F6-AD87-D70F-5398748B4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434" y="1617384"/>
            <a:ext cx="2209914" cy="7874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B79EB18-0A80-C009-DC4E-ADFAECF1280B}"/>
              </a:ext>
            </a:extLst>
          </p:cNvPr>
          <p:cNvSpPr txBox="1"/>
          <p:nvPr/>
        </p:nvSpPr>
        <p:spPr>
          <a:xfrm>
            <a:off x="418271" y="875609"/>
            <a:ext cx="11080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Odor intensity is measured by  labeled magnitude scale  (LMS), which is hybrid scaling technique using verbally labeled line with quasi-logarithmic spacing between the labels.</a:t>
            </a:r>
            <a:endParaRPr lang="LID4096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052EA4-0394-7CAA-EFE4-B4E527555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625" y="2404824"/>
            <a:ext cx="6082431" cy="424355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793A317-1F85-D632-5EA2-DC411D061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6654" y="1617384"/>
            <a:ext cx="3752367" cy="5041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09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34F69-47D3-6340-82F6-E6001F0A2F41}"/>
              </a:ext>
            </a:extLst>
          </p:cNvPr>
          <p:cNvSpPr txBox="1"/>
          <p:nvPr/>
        </p:nvSpPr>
        <p:spPr>
          <a:xfrm>
            <a:off x="435999" y="373926"/>
            <a:ext cx="113200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" b="1" dirty="0"/>
              <a:t>Performance Target Selection:</a:t>
            </a:r>
            <a:endParaRPr lang="he-IL" dirty="0"/>
          </a:p>
          <a:p>
            <a:r>
              <a:rPr lang="" dirty="0"/>
              <a:t>The supplementary sensory data allow us to quantify the variability of odor intensity assessments.</a:t>
            </a:r>
            <a:endParaRPr lang="en-US" dirty="0"/>
          </a:p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D4F08B5-3D32-7449-EFB5-4A4A27A52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57" y="1256710"/>
            <a:ext cx="5878744" cy="35212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20EE3E-D6A0-2448-870C-739EC030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1601" y="1256710"/>
            <a:ext cx="5878744" cy="3521278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EF4F038-2E0B-8126-68BF-9B458F0B68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8445605"/>
              </p:ext>
            </p:extLst>
          </p:nvPr>
        </p:nvGraphicFramePr>
        <p:xfrm>
          <a:off x="444703" y="4819217"/>
          <a:ext cx="4487605" cy="822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34523">
                  <a:extLst>
                    <a:ext uri="{9D8B030D-6E8A-4147-A177-3AD203B41FA5}">
                      <a16:colId xmlns:a16="http://schemas.microsoft.com/office/drawing/2014/main" val="3745781058"/>
                    </a:ext>
                  </a:extLst>
                </a:gridCol>
                <a:gridCol w="2253082">
                  <a:extLst>
                    <a:ext uri="{9D8B030D-6E8A-4147-A177-3AD203B41FA5}">
                      <a16:colId xmlns:a16="http://schemas.microsoft.com/office/drawing/2014/main" val="6085443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b="1" dirty="0"/>
                        <a:t>Source of uncertainty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b="1" dirty="0"/>
                        <a:t>Typical magnitude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92990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dirty="0"/>
                        <a:t>Within evaluator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dirty="0"/>
                        <a:t>~3–5 LMS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8417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dirty="0"/>
                        <a:t>Between evaluators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dirty="0"/>
                        <a:t>~8–13 LMS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7103746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9F62D10-F813-9BC4-82AD-0894C6D41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177599"/>
              </p:ext>
            </p:extLst>
          </p:nvPr>
        </p:nvGraphicFramePr>
        <p:xfrm>
          <a:off x="5506688" y="4841659"/>
          <a:ext cx="6547102" cy="10972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260013">
                  <a:extLst>
                    <a:ext uri="{9D8B030D-6E8A-4147-A177-3AD203B41FA5}">
                      <a16:colId xmlns:a16="http://schemas.microsoft.com/office/drawing/2014/main" val="3745781058"/>
                    </a:ext>
                  </a:extLst>
                </a:gridCol>
                <a:gridCol w="3287089">
                  <a:extLst>
                    <a:ext uri="{9D8B030D-6E8A-4147-A177-3AD203B41FA5}">
                      <a16:colId xmlns:a16="http://schemas.microsoft.com/office/drawing/2014/main" val="6085443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b="1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b="1" dirty="0"/>
                        <a:t>Model performance level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2096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dirty="0"/>
                        <a:t>MAE &lt; 12 LMS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Useful predictive model</a:t>
                      </a:r>
                      <a:endParaRPr lang="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92990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dirty="0"/>
                        <a:t>MAE &lt; 8 LMS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Comparable to evaluator uncertainty</a:t>
                      </a:r>
                      <a:endParaRPr lang="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8417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dirty="0"/>
                        <a:t>MAE &lt; 6 LMS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Approaching measurement noise level</a:t>
                      </a:r>
                      <a:endParaRPr lang="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710374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ADDDE74E-96FA-F74C-D5C6-00E15226D9EA}"/>
              </a:ext>
            </a:extLst>
          </p:cNvPr>
          <p:cNvSpPr txBox="1"/>
          <p:nvPr/>
        </p:nvSpPr>
        <p:spPr>
          <a:xfrm>
            <a:off x="359428" y="5938939"/>
            <a:ext cx="116043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" b="1" dirty="0"/>
              <a:t>Selected project metric: Mean Absolute Error (MAE)</a:t>
            </a:r>
            <a:br>
              <a:rPr lang="" dirty="0"/>
            </a:br>
            <a:r>
              <a:rPr lang="" b="1" dirty="0"/>
              <a:t>Target performance: MAE &lt; 8 LMS</a:t>
            </a:r>
            <a:r>
              <a:rPr lang="" dirty="0"/>
              <a:t>, corresponding approximately to the </a:t>
            </a:r>
            <a:r>
              <a:rPr lang="" b="1" dirty="0"/>
              <a:t>typical between-evaluator variability</a:t>
            </a:r>
            <a:r>
              <a:rPr lang="" dirty="0"/>
              <a:t> observed in sensory assessments.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34371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1780</TotalTime>
  <Words>292</Words>
  <Application>Microsoft Office PowerPoint</Application>
  <PresentationFormat>Widescreen</PresentationFormat>
  <Paragraphs>29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Kiril Kiriyevsky</dc:creator>
  <cp:lastModifiedBy>Kiril Kiriyevsky</cp:lastModifiedBy>
  <cp:revision>4</cp:revision>
  <dcterms:created xsi:type="dcterms:W3CDTF">2026-06-13T05:11:22Z</dcterms:created>
  <dcterms:modified xsi:type="dcterms:W3CDTF">2026-06-14T10:51:33Z</dcterms:modified>
</cp:coreProperties>
</file>