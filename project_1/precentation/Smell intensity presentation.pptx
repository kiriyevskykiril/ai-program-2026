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74" r:id="rId7"/>
    <p:sldId id="258" r:id="rId8"/>
    <p:sldId id="264" r:id="rId9"/>
    <p:sldId id="259" r:id="rId10"/>
    <p:sldId id="268" r:id="rId11"/>
    <p:sldId id="279" r:id="rId12"/>
    <p:sldId id="271" r:id="rId13"/>
    <p:sldId id="270" r:id="rId14"/>
    <p:sldId id="265" r:id="rId15"/>
    <p:sldId id="267" r:id="rId16"/>
    <p:sldId id="272" r:id="rId17"/>
    <p:sldId id="263" r:id="rId18"/>
    <p:sldId id="275" r:id="rId19"/>
    <p:sldId id="278" r:id="rId20"/>
    <p:sldId id="281" r:id="rId21"/>
    <p:sldId id="276" r:id="rId22"/>
    <p:sldId id="277" r:id="rId23"/>
    <p:sldId id="260" r:id="rId24"/>
    <p:sldId id="266" r:id="rId25"/>
    <p:sldId id="280" r:id="rId2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5FD7A-5B64-4487-A17A-EC3956209378}" v="2" dt="2026-07-01T08:54:40.009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31" autoAdjust="0"/>
    <p:restoredTop sz="80024" autoAdjust="0"/>
  </p:normalViewPr>
  <p:slideViewPr>
    <p:cSldViewPr snapToGrid="0">
      <p:cViewPr varScale="1">
        <p:scale>
          <a:sx n="88" d="100"/>
          <a:sy n="88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il Kiriyevsky" userId="11d70feb-90cd-4960-8327-645a4241dafb" providerId="ADAL" clId="{4CCB0874-43F7-40E2-8174-C8DA7D86C842}"/>
    <pc:docChg chg="undo custSel addSld modSld">
      <pc:chgData name="Kiril Kiriyevsky" userId="11d70feb-90cd-4960-8327-645a4241dafb" providerId="ADAL" clId="{4CCB0874-43F7-40E2-8174-C8DA7D86C842}" dt="2026-07-01T08:55:01.609" v="456" actId="113"/>
      <pc:docMkLst>
        <pc:docMk/>
      </pc:docMkLst>
      <pc:sldChg chg="modSp mod">
        <pc:chgData name="Kiril Kiriyevsky" userId="11d70feb-90cd-4960-8327-645a4241dafb" providerId="ADAL" clId="{4CCB0874-43F7-40E2-8174-C8DA7D86C842}" dt="2026-07-01T08:05:40.941" v="1" actId="1076"/>
        <pc:sldMkLst>
          <pc:docMk/>
          <pc:sldMk cId="3088925324" sldId="270"/>
        </pc:sldMkLst>
        <pc:spChg chg="mod">
          <ac:chgData name="Kiril Kiriyevsky" userId="11d70feb-90cd-4960-8327-645a4241dafb" providerId="ADAL" clId="{4CCB0874-43F7-40E2-8174-C8DA7D86C842}" dt="2026-07-01T08:05:40.941" v="1" actId="1076"/>
          <ac:spMkLst>
            <pc:docMk/>
            <pc:sldMk cId="3088925324" sldId="270"/>
            <ac:spMk id="5" creationId="{2BF8392B-3B5B-9A3B-DA5E-94F6CE4B8EF8}"/>
          </ac:spMkLst>
        </pc:spChg>
      </pc:sldChg>
      <pc:sldChg chg="addSp modSp new mod">
        <pc:chgData name="Kiril Kiriyevsky" userId="11d70feb-90cd-4960-8327-645a4241dafb" providerId="ADAL" clId="{4CCB0874-43F7-40E2-8174-C8DA7D86C842}" dt="2026-07-01T08:28:11.909" v="380" actId="20577"/>
        <pc:sldMkLst>
          <pc:docMk/>
          <pc:sldMk cId="96815854" sldId="280"/>
        </pc:sldMkLst>
        <pc:spChg chg="add mod">
          <ac:chgData name="Kiril Kiriyevsky" userId="11d70feb-90cd-4960-8327-645a4241dafb" providerId="ADAL" clId="{4CCB0874-43F7-40E2-8174-C8DA7D86C842}" dt="2026-07-01T08:28:11.909" v="380" actId="20577"/>
          <ac:spMkLst>
            <pc:docMk/>
            <pc:sldMk cId="96815854" sldId="280"/>
            <ac:spMk id="2" creationId="{CA654FCE-11CD-05A3-4862-A8BF58F7E65F}"/>
          </ac:spMkLst>
        </pc:spChg>
      </pc:sldChg>
      <pc:sldChg chg="addSp modSp new mod">
        <pc:chgData name="Kiril Kiriyevsky" userId="11d70feb-90cd-4960-8327-645a4241dafb" providerId="ADAL" clId="{4CCB0874-43F7-40E2-8174-C8DA7D86C842}" dt="2026-07-01T08:55:01.609" v="456" actId="113"/>
        <pc:sldMkLst>
          <pc:docMk/>
          <pc:sldMk cId="1241119122" sldId="281"/>
        </pc:sldMkLst>
        <pc:spChg chg="add mod">
          <ac:chgData name="Kiril Kiriyevsky" userId="11d70feb-90cd-4960-8327-645a4241dafb" providerId="ADAL" clId="{4CCB0874-43F7-40E2-8174-C8DA7D86C842}" dt="2026-07-01T08:55:01.609" v="456" actId="113"/>
          <ac:spMkLst>
            <pc:docMk/>
            <pc:sldMk cId="1241119122" sldId="281"/>
            <ac:spMk id="12" creationId="{960BBE85-9124-EB89-8AA4-94D7E45698AF}"/>
          </ac:spMkLst>
        </pc:spChg>
        <pc:picChg chg="add mod">
          <ac:chgData name="Kiril Kiriyevsky" userId="11d70feb-90cd-4960-8327-645a4241dafb" providerId="ADAL" clId="{4CCB0874-43F7-40E2-8174-C8DA7D86C842}" dt="2026-07-01T08:54:17.975" v="422" actId="1076"/>
          <ac:picMkLst>
            <pc:docMk/>
            <pc:sldMk cId="1241119122" sldId="281"/>
            <ac:picMk id="3" creationId="{D8DF3F30-AF49-D40E-A202-9F59F19956DA}"/>
          </ac:picMkLst>
        </pc:picChg>
        <pc:picChg chg="add mod">
          <ac:chgData name="Kiril Kiriyevsky" userId="11d70feb-90cd-4960-8327-645a4241dafb" providerId="ADAL" clId="{4CCB0874-43F7-40E2-8174-C8DA7D86C842}" dt="2026-07-01T08:54:15.040" v="421" actId="1076"/>
          <ac:picMkLst>
            <pc:docMk/>
            <pc:sldMk cId="1241119122" sldId="281"/>
            <ac:picMk id="5" creationId="{DFE77751-B6D3-6679-E684-E2ECAD4E1DAE}"/>
          </ac:picMkLst>
        </pc:picChg>
        <pc:picChg chg="add mod">
          <ac:chgData name="Kiril Kiriyevsky" userId="11d70feb-90cd-4960-8327-645a4241dafb" providerId="ADAL" clId="{4CCB0874-43F7-40E2-8174-C8DA7D86C842}" dt="2026-07-01T08:54:22.727" v="423" actId="1076"/>
          <ac:picMkLst>
            <pc:docMk/>
            <pc:sldMk cId="1241119122" sldId="281"/>
            <ac:picMk id="7" creationId="{89D67202-A306-3D17-37F9-A39C7E64E459}"/>
          </ac:picMkLst>
        </pc:picChg>
        <pc:picChg chg="add mod">
          <ac:chgData name="Kiril Kiriyevsky" userId="11d70feb-90cd-4960-8327-645a4241dafb" providerId="ADAL" clId="{4CCB0874-43F7-40E2-8174-C8DA7D86C842}" dt="2026-07-01T08:54:33.367" v="425" actId="14100"/>
          <ac:picMkLst>
            <pc:docMk/>
            <pc:sldMk cId="1241119122" sldId="281"/>
            <ac:picMk id="9" creationId="{F139F18E-CC6D-E85C-0655-882085C34CD2}"/>
          </ac:picMkLst>
        </pc:picChg>
        <pc:picChg chg="add mod">
          <ac:chgData name="Kiril Kiriyevsky" userId="11d70feb-90cd-4960-8327-645a4241dafb" providerId="ADAL" clId="{4CCB0874-43F7-40E2-8174-C8DA7D86C842}" dt="2026-07-01T08:54:27.001" v="424" actId="1076"/>
          <ac:picMkLst>
            <pc:docMk/>
            <pc:sldMk cId="1241119122" sldId="281"/>
            <ac:picMk id="11" creationId="{BC395089-F171-EE0A-1660-8A2369E035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B3431-D7CA-4884-BBC8-551033F4B8B0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81A42-54A3-4E6D-AAAD-815597063F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18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gaussian_process.GaussianProcessRegressor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cikit-learn.org/stable/modules/generated/sklearn.ensemble.VotingClassifier.html#sklearn.ensemble.VotingClassifier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Couple of word about fragrance industry – this is multibillion dollar market; we have the smell almost in every consumable product, usually commercial formulas have 30 -150 ingredients where most of them a </a:t>
            </a:r>
            <a:r>
              <a:rPr lang="en-US" dirty="0" err="1"/>
              <a:t>synthethic</a:t>
            </a:r>
            <a:r>
              <a:rPr lang="en-US" dirty="0"/>
              <a:t>, naturals ingredients are not better. Target price from 10-30 $/kg. In terms of business: Product - &gt; Brief -&gt; Fragrance house -&gt; Development -&gt; delivery to CPG companies.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Development and maintenance of the formulas are mainly performed by perfumers (art -&gt; experience -&gt; trials and errors -&gt; difficulty to predict -&gt; very time-consuming process)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Evaluation of smell ingredients and mixtures is challenging, somewhere subjective, needs training and still not possible with e-nose.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Odor intensity  - &gt; quantity, character of smell, cost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Mechanism od odor perception is still not understood</a:t>
            </a:r>
          </a:p>
          <a:p>
            <a:pPr marL="228600" indent="-228600">
              <a:buAutoNum type="arabicPeriod"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7899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As a data set, we use published research made by KAO corporation, in the frame of this research the intensity of 314 PRM was measured</a:t>
            </a:r>
          </a:p>
          <a:p>
            <a:pPr marL="228600" indent="-228600">
              <a:buAutoNum type="arabicPeriod"/>
            </a:pPr>
            <a:r>
              <a:rPr lang="en-US" dirty="0"/>
              <a:t>Labeled Magnitude scale was used for perceptual evaluation, Intensity was measured against concentration of odorants in air</a:t>
            </a:r>
          </a:p>
          <a:p>
            <a:pPr marL="228600" indent="-228600">
              <a:buAutoNum type="arabicPeriod"/>
            </a:pPr>
            <a:r>
              <a:rPr lang="en-US" dirty="0"/>
              <a:t>3-5 panelists randomly selected from group of 18 measures every concentration point</a:t>
            </a:r>
          </a:p>
          <a:p>
            <a:pPr marL="228600" indent="-228600">
              <a:buAutoNum type="arabicPeriod"/>
            </a:pPr>
            <a:r>
              <a:rPr lang="en-US" dirty="0"/>
              <a:t>Sigmoid behavior of intensity curve (different threshold concentration, steepness of curve, concentration with half Imax, and I max plate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1670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Each dot represents the average score of one evaluator. The box shows the middle 50% of evaluators, and σ shows the standard deviation between evaluators. For several conditions, σ is around 8–13 LMS units, supporting MAE ≈ 8 LMS as a reasonable target for model performance.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6948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0463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less sensitive for </a:t>
            </a:r>
            <a:r>
              <a:rPr lang="en-US" dirty="0" err="1"/>
              <a:t>outlayers</a:t>
            </a:r>
            <a:endParaRPr lang="en-US" dirty="0"/>
          </a:p>
          <a:p>
            <a:r>
              <a:rPr lang="" dirty="0"/>
              <a:t>subsample=0.8, Percentage of rows used to build each tree.</a:t>
            </a:r>
          </a:p>
          <a:p>
            <a:r>
              <a:rPr lang="" dirty="0"/>
              <a:t>colsample_bytree=1.0 Percentage of features used by each tree.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1896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For a presentation slide, I would keep it high-level and connect the descriptors to molecular properties rather than Dragon terminology.</a:t>
            </a:r>
          </a:p>
          <a:p>
            <a:r>
              <a:rPr lang="" b="1" dirty="0"/>
              <a:t>Key Molecular Properties Identified by XGBoost</a:t>
            </a:r>
          </a:p>
          <a:p>
            <a:r>
              <a:rPr lang="" b="1" dirty="0"/>
              <a:t>Strongly represented descriptor groups</a:t>
            </a:r>
            <a:endParaRPr lang="" dirty="0"/>
          </a:p>
          <a:p>
            <a:r>
              <a:rPr lang="" b="1" dirty="0"/>
              <a:t>3D molecular shape and geometry</a:t>
            </a:r>
            <a:endParaRPr lang="" dirty="0"/>
          </a:p>
          <a:p>
            <a:pPr lvl="1"/>
            <a:r>
              <a:rPr lang="" dirty="0"/>
              <a:t>MoRSE descriptors (MorXX)</a:t>
            </a:r>
          </a:p>
          <a:p>
            <a:pPr lvl="1"/>
            <a:r>
              <a:rPr lang="" dirty="0"/>
              <a:t>RDF descriptors (RDFXXX)</a:t>
            </a:r>
          </a:p>
          <a:p>
            <a:pPr lvl="1"/>
            <a:r>
              <a:rPr lang="" dirty="0"/>
              <a:t>GETAWAY descriptors (Hx, Rx)</a:t>
            </a:r>
          </a:p>
          <a:p>
            <a:pPr lvl="1"/>
            <a:r>
              <a:rPr lang="" dirty="0"/>
              <a:t>Suggests odor intensity strongly depends on how atoms are arranged in three-dimensional space.</a:t>
            </a:r>
          </a:p>
          <a:p>
            <a:r>
              <a:rPr lang="" b="1" dirty="0"/>
              <a:t>Molecular size and bulk</a:t>
            </a:r>
            <a:endParaRPr lang="" dirty="0"/>
          </a:p>
          <a:p>
            <a:pPr lvl="1"/>
            <a:r>
              <a:rPr lang="" dirty="0"/>
              <a:t>Vindex, Am, Gm, VAR</a:t>
            </a:r>
          </a:p>
          <a:p>
            <a:pPr lvl="1"/>
            <a:r>
              <a:rPr lang="" dirty="0"/>
              <a:t>Indicates that larger and more complex molecules tend to exhibit different maximum odor intensities than smaller molecules.</a:t>
            </a:r>
          </a:p>
          <a:p>
            <a:r>
              <a:rPr lang="" b="1" dirty="0"/>
              <a:t>Electronic structure and charge distribution</a:t>
            </a:r>
            <a:endParaRPr lang="" dirty="0"/>
          </a:p>
          <a:p>
            <a:pPr lvl="1"/>
            <a:r>
              <a:rPr lang="" dirty="0"/>
              <a:t>GGI, JGI, ATSCe, MATSe descriptors</a:t>
            </a:r>
          </a:p>
          <a:p>
            <a:pPr lvl="1"/>
            <a:r>
              <a:rPr lang="" dirty="0"/>
              <a:t>Captures electronegativity patterns, charge transfer, and electron distribution within the molecule.</a:t>
            </a:r>
          </a:p>
          <a:p>
            <a:r>
              <a:rPr lang="" b="1" dirty="0"/>
              <a:t>Branching and topological complexity</a:t>
            </a:r>
            <a:endParaRPr lang="" dirty="0"/>
          </a:p>
          <a:p>
            <a:pPr lvl="1"/>
            <a:r>
              <a:rPr lang="" dirty="0"/>
              <a:t>MPC08, Chi indices, VE indices, Burden eigenvalues</a:t>
            </a:r>
          </a:p>
          <a:p>
            <a:pPr lvl="1"/>
            <a:r>
              <a:rPr lang="" dirty="0"/>
              <a:t>Suggests that molecular connectivity and branching influence odor intensity.</a:t>
            </a:r>
          </a:p>
          <a:p>
            <a:r>
              <a:rPr lang="" b="1" dirty="0"/>
              <a:t>Mass-weighted structural information</a:t>
            </a:r>
            <a:endParaRPr lang="" dirty="0"/>
          </a:p>
          <a:p>
            <a:pPr lvl="1"/>
            <a:r>
              <a:rPr lang="" dirty="0"/>
              <a:t>ATSm, MorXm, G2m, TDBm descriptors</a:t>
            </a:r>
          </a:p>
          <a:p>
            <a:pPr lvl="1"/>
            <a:r>
              <a:rPr lang="" dirty="0"/>
              <a:t>Indicates that the spatial distribution of atomic masses contributes to intensity prediction.</a:t>
            </a:r>
          </a:p>
          <a:p>
            <a:r>
              <a:rPr lang="" b="1" dirty="0"/>
              <a:t>Hydrogen-bonding functionality</a:t>
            </a:r>
            <a:endParaRPr lang="" dirty="0"/>
          </a:p>
          <a:p>
            <a:pPr lvl="1"/>
            <a:r>
              <a:rPr lang="" dirty="0"/>
              <a:t>SsOH descriptor</a:t>
            </a:r>
          </a:p>
          <a:p>
            <a:pPr lvl="1"/>
            <a:r>
              <a:rPr lang="" dirty="0"/>
              <a:t>Presence of hydroxyl groups appears to influence odor intensity.</a:t>
            </a:r>
          </a:p>
          <a:p>
            <a:br>
              <a:rPr lang="" dirty="0"/>
            </a:br>
            <a:endParaRPr lang="" dirty="0"/>
          </a:p>
          <a:p>
            <a:r>
              <a:rPr lang="" b="1" dirty="0"/>
              <a:t>Interpretation</a:t>
            </a:r>
          </a:p>
          <a:p>
            <a:r>
              <a:rPr lang="" dirty="0"/>
              <a:t>The selected descriptors indicate that </a:t>
            </a:r>
            <a:r>
              <a:rPr lang="" b="1" dirty="0"/>
              <a:t>odor intensity is primarily related to molecular shape, size, and electronic structure</a:t>
            </a:r>
            <a:r>
              <a:rPr lang="" dirty="0"/>
              <a:t>.</a:t>
            </a:r>
          </a:p>
          <a:p>
            <a:r>
              <a:rPr lang="" dirty="0"/>
              <a:t>This is consistent with the hypothesis that intensity is determined by:</a:t>
            </a:r>
          </a:p>
          <a:p>
            <a:r>
              <a:rPr lang="" dirty="0"/>
              <a:t>How efficiently a molecule reaches the receptor.</a:t>
            </a:r>
          </a:p>
          <a:p>
            <a:r>
              <a:rPr lang="" dirty="0"/>
              <a:t>How strongly it interacts with the receptor binding site.</a:t>
            </a:r>
          </a:p>
          <a:p>
            <a:br>
              <a:rPr lang="" dirty="0"/>
            </a:br>
            <a:endParaRPr lang="" dirty="0"/>
          </a:p>
          <a:p>
            <a:r>
              <a:rPr lang="" b="1" dirty="0"/>
              <a:t>Surprisingly Underrepresented</a:t>
            </a:r>
          </a:p>
          <a:p>
            <a:r>
              <a:rPr lang="" dirty="0"/>
              <a:t>The model selected very few descriptors directly related to:</a:t>
            </a:r>
          </a:p>
          <a:p>
            <a:r>
              <a:rPr lang="" dirty="0"/>
              <a:t>Lipophilicity (LogP)</a:t>
            </a:r>
          </a:p>
          <a:p>
            <a:r>
              <a:rPr lang="" dirty="0"/>
              <a:t>Hydrogen-bond donor count</a:t>
            </a:r>
          </a:p>
          <a:p>
            <a:r>
              <a:rPr lang="" dirty="0"/>
              <a:t>Hydrogen-bond acceptor count</a:t>
            </a:r>
          </a:p>
          <a:p>
            <a:r>
              <a:rPr lang="" dirty="0"/>
              <a:t>Molecular surface area</a:t>
            </a:r>
          </a:p>
          <a:p>
            <a:r>
              <a:rPr lang="" dirty="0"/>
              <a:t>Polar surface area (PSA)</a:t>
            </a:r>
          </a:p>
          <a:p>
            <a:r>
              <a:rPr lang="" dirty="0"/>
              <a:t>Simple constitutional descriptors</a:t>
            </a:r>
          </a:p>
          <a:p>
            <a:r>
              <a:rPr lang="" dirty="0"/>
              <a:t>These properties are commonly important in odor and drug-design studies, yet they were not among the most informative predictors for </a:t>
            </a:r>
            <a:r>
              <a:rPr lang="" b="1" dirty="0"/>
              <a:t>Imax</a:t>
            </a:r>
            <a:r>
              <a:rPr lang="" dirty="0"/>
              <a:t> in this dataset.</a:t>
            </a:r>
          </a:p>
          <a:p>
            <a:br>
              <a:rPr lang="" dirty="0"/>
            </a:br>
            <a:endParaRPr lang="" dirty="0"/>
          </a:p>
          <a:p>
            <a:r>
              <a:rPr lang="" b="1" dirty="0"/>
              <a:t>One-line conclusion for the slide</a:t>
            </a:r>
          </a:p>
          <a:p>
            <a:r>
              <a:rPr lang="" b="1" dirty="0"/>
              <a:t>Maximum odor intensity appears to be driven mainly by molecular 3D shape, size, topology, and electronic structure, whereas classical descriptors such as LogP, PSA, and simple hydrogen-bond counts were not identified as major predictors.</a:t>
            </a:r>
            <a:endParaRPr lang="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5583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b="1" dirty="0"/>
              <a:t>Here's what we've learned so far</a:t>
            </a:r>
          </a:p>
          <a:p>
            <a:r>
              <a:rPr lang="" b="1" dirty="0"/>
              <a:t>✓ XGBoost is currently your strongest base learner</a:t>
            </a:r>
          </a:p>
          <a:p>
            <a:r>
              <a:rPr lang="" dirty="0"/>
              <a:t>It captures most of the structure in the data.</a:t>
            </a:r>
          </a:p>
          <a:p>
            <a:r>
              <a:rPr lang="" b="1" dirty="0"/>
              <a:t>✓ The classifier is meaningful</a:t>
            </a:r>
          </a:p>
          <a:p>
            <a:r>
              <a:rPr lang="" dirty="0"/>
              <a:t>It learned something real:</a:t>
            </a:r>
          </a:p>
          <a:p>
            <a:r>
              <a:rPr lang="" dirty="0"/>
              <a:t>no confusion between low and high intensity </a:t>
            </a:r>
          </a:p>
          <a:p>
            <a:r>
              <a:rPr lang="" dirty="0"/>
              <a:t>class probabilities became moderately important features in XGBoost </a:t>
            </a:r>
          </a:p>
          <a:p>
            <a:r>
              <a:rPr lang="" b="1" dirty="0"/>
              <a:t>✓ But classifier probabilities do not improve regression</a:t>
            </a:r>
          </a:p>
          <a:p>
            <a:r>
              <a:rPr lang="" dirty="0"/>
              <a:t>We tested:</a:t>
            </a:r>
          </a:p>
          <a:p>
            <a:r>
              <a:rPr lang="" dirty="0"/>
              <a:t>adding them as features </a:t>
            </a:r>
          </a:p>
          <a:p>
            <a:r>
              <a:rPr lang="" dirty="0"/>
              <a:t>using them for residual correction </a:t>
            </a:r>
          </a:p>
          <a:p>
            <a:r>
              <a:rPr lang="" dirty="0"/>
              <a:t>Neither reduced CV MAE.</a:t>
            </a:r>
          </a:p>
          <a:p>
            <a:r>
              <a:rPr lang="" dirty="0"/>
              <a:t>So I would remove that branch from the production pipeline.</a:t>
            </a:r>
          </a:p>
          <a:p>
            <a:r>
              <a:rPr lang="" dirty="0"/>
              <a:t>This is actually a useful negative result—it tells us where </a:t>
            </a:r>
            <a:r>
              <a:rPr lang="" b="1" dirty="0"/>
              <a:t>not</a:t>
            </a:r>
            <a:r>
              <a:rPr lang="" dirty="0"/>
              <a:t> to spend more time.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9111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0156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https://scikit-learn.org/stable/modules/generated/sklearn.gaussian_process.GaussianProcessRegressor.html</a:t>
            </a:r>
            <a:endParaRPr lang="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https://scikit-learn.org/stable/modules/generated/sklearn.ensemble.VotingClassifier.html#sklearn.ensemble.VotingClassifier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81A42-54A3-4E6D-AAAD-815597063FD7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204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921E-6127-1F89-05F7-B67FAA0F8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C84EE-0075-40D9-6C43-52FF94DA0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FE7EB-0485-3B41-E87F-E7A6F35F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FF8A3-D9FD-892C-EF01-6C9B9AEE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0CB9D-F26B-DF9D-876A-D1ED1835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387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6F6B-611E-A992-D2CE-5BC959F5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0BFF-4B03-A40F-B072-981B933A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D4331-591B-B421-BC64-EE759DE1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43754-8667-3B1E-01F9-DCDAEAA8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43B70-D50E-FB02-07CA-8A365FB9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049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9520-9EE1-DD2F-CA90-7D31D93A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387FE-B802-95A2-2EEA-22BE65E2B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B6EF-5C40-AA0F-CF94-B358E304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9852C-F922-D660-B839-41F00A0A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A875C-18C3-3540-986C-C7DDC56C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697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DF1D-DA35-EFC2-E8FA-4E3F766A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9ECD6-C263-0995-9C5B-3F3F191FE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2F5CC-5855-67BD-CA65-428E6BD80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FE252-2D78-5D31-DB1B-90AC66E8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B3511-20DA-3FE6-C125-675F812C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281AD-A108-ED57-619A-B47CA86A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715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5ECC-6FEE-00EF-E50A-F831DF1C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4D178-4723-8AC1-6947-F4A705C2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FEB43-3E05-1054-C018-D75AD8037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E625C-53B4-3C91-B14D-17630D780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6F445-BF20-5ABA-14FC-D49798221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BEC11-F9FC-DFAB-9702-DFD35F3E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03C62-D48A-B659-88C6-E314A59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E6590-F6FD-0AE0-8567-D5860887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790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C91F-CAF7-F26A-C7FA-F89A6E8AC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12508-62B2-DBD6-FB9B-D943B691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0F615-2071-79FA-02A2-20F5547F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8A9B2-324F-8B2B-7825-C726808E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48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61C30-03DD-CA65-ED2E-DA29A42B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6033E-25F0-77AC-49C2-A78D5B0D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62F6D-03CC-756A-B15F-3ABBB9AB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09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8665-38D7-E4F9-D6EB-6CF4C6C4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8C461-93E9-AAC4-3467-B5A885FD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CBDA2-3F6F-46D9-F796-7AD275356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55A0E-086B-43CF-142A-D84260C8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E5BBF-7E1E-A31F-BBDD-80D04CED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9C893-8F0C-6678-310F-94F68B55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378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87A5-DA5B-E836-73F3-EB6CECF5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2CC51-0439-6F88-699A-F5BC186B1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7657E-E4FE-AE9B-6EEC-BAE51947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0FA68-A3CC-A455-A74D-3C908830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E4078-5F80-5733-1720-553EAD62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116E3-9823-833B-2E6A-240DC483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235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44EB-6EF6-D04E-90EF-A365467E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BDCEE-030B-5225-9C81-4ECA26E33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5D2C7-2A09-05AA-F1D1-7EA8E84E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920BC-5960-3341-862E-CC364FEB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45EB5-5F0F-F9F3-0358-AB3206B4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595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C8C226-9F15-6920-1F04-D0A2461DA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C4A0A-0C95-2381-3DD0-ECBE6A74D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C05D-4B56-2A86-54D2-D38023DB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616F-0515-84BF-DD3E-EBDBDDDC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0DFD-C40D-3D79-82D3-89FCB2BB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488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0ADF8-FC18-84F2-BDD8-CD38BE06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21FEA-8D34-E7D1-6DD9-D4BA2695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3196-A985-9A4C-596C-EB0542B04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D65A3-F498-4B74-9815-EB2DD0BB06C6}" type="datetimeFigureOut">
              <a:rPr lang="LID4096" smtClean="0"/>
              <a:t>07/01/2026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589DA-B38E-59BC-BA88-82C89DCB9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B0102-F466-DD2E-2A5D-D68ABEB34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A423-291C-4866-86F6-ED2E1D0F2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919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4F118-E43C-A7AD-5EC1-FA6DF7F25EB9}"/>
              </a:ext>
            </a:extLst>
          </p:cNvPr>
          <p:cNvSpPr txBox="1"/>
          <p:nvPr/>
        </p:nvSpPr>
        <p:spPr>
          <a:xfrm>
            <a:off x="621703" y="831135"/>
            <a:ext cx="11265497" cy="4530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goal of the project: Prediction of the odor intensity of fragrance molecules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The real word problem: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Odor intensity determines how much of an ingredient is needed in a fragrance formula (quantity ~ cost).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Intensity as a function of concentration is essential for fragrance design and reformulation.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intense ingredients are economically attractive because lower dosages are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Experimental intensity measurements are costly, slow, and require trained sensory panels.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Predicting intensity from molecular properties could accelerate ingredient discovery and reduce R&amp;D costs.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The mechanisms of odor perception are not fully understood, and fragrance development still relies heavily on expert knowledge and experience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1410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5BABD6-1A96-9F71-774C-E1DF982A4CAB}"/>
              </a:ext>
            </a:extLst>
          </p:cNvPr>
          <p:cNvSpPr txBox="1"/>
          <p:nvPr/>
        </p:nvSpPr>
        <p:spPr>
          <a:xfrm>
            <a:off x="331624" y="315389"/>
            <a:ext cx="649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Intensity behavior (different threshold)</a:t>
            </a:r>
            <a:endParaRPr lang="LID4096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5899B-29F6-AD87-D70F-5398748B4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33" y="1456536"/>
            <a:ext cx="2209914" cy="787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79EB18-0A80-C009-DC4E-ADFAECF1280B}"/>
              </a:ext>
            </a:extLst>
          </p:cNvPr>
          <p:cNvSpPr txBox="1"/>
          <p:nvPr/>
        </p:nvSpPr>
        <p:spPr>
          <a:xfrm>
            <a:off x="418271" y="875609"/>
            <a:ext cx="1108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Odor intensity is measured by  labeled magnitude scale  (LMS), which is hybrid scaling technique using verbally labeled line with quasi-logarithmic spacing between the labels.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C1BE1-BF81-17A7-302C-30B1EB2D8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73" y="1758257"/>
            <a:ext cx="5428011" cy="4224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3DD6F3-2A55-C108-5E5C-56DCD8D228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35"/>
          <a:stretch>
            <a:fillRect/>
          </a:stretch>
        </p:blipFill>
        <p:spPr>
          <a:xfrm>
            <a:off x="710044" y="2243976"/>
            <a:ext cx="5609244" cy="3062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126F27-6D42-EDBE-7F0E-AE58444AA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71" y="5643580"/>
            <a:ext cx="7019512" cy="745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E0A61A-0624-F99E-02AC-471C6F29B0D2}"/>
              </a:ext>
            </a:extLst>
          </p:cNvPr>
          <p:cNvSpPr txBox="1"/>
          <p:nvPr/>
        </p:nvSpPr>
        <p:spPr>
          <a:xfrm>
            <a:off x="418271" y="6388722"/>
            <a:ext cx="4867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Ind. Eng. Chem. Res. 2019, 58, 32, 15036–15044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40620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C44EB0-956E-9071-7A22-34C1DD46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8" y="908277"/>
            <a:ext cx="7226071" cy="5041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36BBC-278C-C198-E896-D3827667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" y="789243"/>
            <a:ext cx="4230356" cy="56836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CAA5B8-2CA5-5D52-9EF5-9004B4829A12}"/>
              </a:ext>
            </a:extLst>
          </p:cNvPr>
          <p:cNvSpPr txBox="1"/>
          <p:nvPr/>
        </p:nvSpPr>
        <p:spPr>
          <a:xfrm>
            <a:off x="703385" y="251208"/>
            <a:ext cx="4230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Visualization of data with Python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19745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634F69-47D3-6340-82F6-E6001F0A2F41}"/>
              </a:ext>
            </a:extLst>
          </p:cNvPr>
          <p:cNvSpPr txBox="1"/>
          <p:nvPr/>
        </p:nvSpPr>
        <p:spPr>
          <a:xfrm>
            <a:off x="444703" y="193055"/>
            <a:ext cx="11320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/>
              <a:t>Performance Target Selection:</a:t>
            </a:r>
            <a:endParaRPr lang="he-IL" b="1" dirty="0"/>
          </a:p>
          <a:p>
            <a:endParaRPr lang="he-IL" dirty="0"/>
          </a:p>
          <a:p>
            <a:r>
              <a:rPr lang="" dirty="0"/>
              <a:t>The supplementary sensory data allow us to quantify the variability of odor intensity assessments.</a:t>
            </a:r>
            <a:endParaRPr lang="en-US" dirty="0"/>
          </a:p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F08B5-3D32-7449-EFB5-4A4A27A5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7" y="1256710"/>
            <a:ext cx="5878744" cy="3521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20EE3E-D6A0-2448-870C-739EC0301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601" y="1256710"/>
            <a:ext cx="5878744" cy="352127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F4F038-2E0B-8126-68BF-9B458F0B6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445605"/>
              </p:ext>
            </p:extLst>
          </p:nvPr>
        </p:nvGraphicFramePr>
        <p:xfrm>
          <a:off x="444703" y="4819217"/>
          <a:ext cx="4487605" cy="822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4523">
                  <a:extLst>
                    <a:ext uri="{9D8B030D-6E8A-4147-A177-3AD203B41FA5}">
                      <a16:colId xmlns:a16="http://schemas.microsoft.com/office/drawing/2014/main" val="3745781058"/>
                    </a:ext>
                  </a:extLst>
                </a:gridCol>
                <a:gridCol w="2253082">
                  <a:extLst>
                    <a:ext uri="{9D8B030D-6E8A-4147-A177-3AD203B41FA5}">
                      <a16:colId xmlns:a16="http://schemas.microsoft.com/office/drawing/2014/main" val="608544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b="1" dirty="0"/>
                        <a:t>Source of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b="1" dirty="0"/>
                        <a:t>Typical 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299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Within 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~3–5 LMS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4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Between evaluators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~8–13 LMS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1037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F62D10-F813-9BC4-82AD-0894C6D41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44207"/>
              </p:ext>
            </p:extLst>
          </p:nvPr>
        </p:nvGraphicFramePr>
        <p:xfrm>
          <a:off x="5506688" y="4841659"/>
          <a:ext cx="6547102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60013">
                  <a:extLst>
                    <a:ext uri="{9D8B030D-6E8A-4147-A177-3AD203B41FA5}">
                      <a16:colId xmlns:a16="http://schemas.microsoft.com/office/drawing/2014/main" val="3745781058"/>
                    </a:ext>
                  </a:extLst>
                </a:gridCol>
                <a:gridCol w="3287089">
                  <a:extLst>
                    <a:ext uri="{9D8B030D-6E8A-4147-A177-3AD203B41FA5}">
                      <a16:colId xmlns:a16="http://schemas.microsoft.com/office/drawing/2014/main" val="608544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b="1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b="1" dirty="0"/>
                        <a:t>Model performance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096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MAE &lt; 12 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Useful predictive model</a:t>
                      </a:r>
                      <a:endParaRPr lang="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299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MAE &lt; 8 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Comparable to evaluator uncertainty</a:t>
                      </a:r>
                      <a:endParaRPr lang="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4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1200" dirty="0"/>
                        <a:t>MAE &lt; 6 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Approaching measurement noise level</a:t>
                      </a:r>
                      <a:endParaRPr lang="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1037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DDDE74E-96FA-F74C-D5C6-00E15226D9EA}"/>
              </a:ext>
            </a:extLst>
          </p:cNvPr>
          <p:cNvSpPr txBox="1"/>
          <p:nvPr/>
        </p:nvSpPr>
        <p:spPr>
          <a:xfrm>
            <a:off x="359428" y="5938939"/>
            <a:ext cx="11604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/>
              <a:t>Selected project metric: Mean Absolute Error (MAE)</a:t>
            </a:r>
            <a:br>
              <a:rPr lang="" dirty="0"/>
            </a:br>
            <a:r>
              <a:rPr lang="" b="1" dirty="0"/>
              <a:t>Target performance: MAE &lt; 8 LMS</a:t>
            </a:r>
            <a:r>
              <a:rPr lang="" dirty="0"/>
              <a:t>, corresponding approximately to the </a:t>
            </a:r>
            <a:r>
              <a:rPr lang="" b="1" dirty="0"/>
              <a:t>typical between-evaluator variability</a:t>
            </a:r>
            <a:r>
              <a:rPr lang="" dirty="0"/>
              <a:t> observed in sensory assessments.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3437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AA89AE-181F-004D-E569-9173FE18C08A}"/>
              </a:ext>
            </a:extLst>
          </p:cNvPr>
          <p:cNvSpPr txBox="1"/>
          <p:nvPr/>
        </p:nvSpPr>
        <p:spPr>
          <a:xfrm>
            <a:off x="131657" y="85718"/>
            <a:ext cx="382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do we have as an initial data?</a:t>
            </a:r>
            <a:endParaRPr lang="LID4096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B36B9-DFC0-9D74-5F4D-36D2EB1FA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7" y="3248530"/>
            <a:ext cx="7495117" cy="339272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46C2AB-A0B1-828E-F932-72A7EB624B52}"/>
              </a:ext>
            </a:extLst>
          </p:cNvPr>
          <p:cNvGrpSpPr/>
          <p:nvPr/>
        </p:nvGrpSpPr>
        <p:grpSpPr>
          <a:xfrm>
            <a:off x="13547" y="816539"/>
            <a:ext cx="5520699" cy="1956071"/>
            <a:chOff x="13547" y="816539"/>
            <a:chExt cx="5520699" cy="195607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07FFA6-CEBC-967F-05BA-07288506CEEA}"/>
                </a:ext>
              </a:extLst>
            </p:cNvPr>
            <p:cNvGrpSpPr/>
            <p:nvPr/>
          </p:nvGrpSpPr>
          <p:grpSpPr>
            <a:xfrm>
              <a:off x="592667" y="816539"/>
              <a:ext cx="4941579" cy="1956071"/>
              <a:chOff x="592667" y="816539"/>
              <a:chExt cx="4941579" cy="195607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FBEE714-BC4A-1A55-9395-350BFE3B4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894" y="816539"/>
                <a:ext cx="4694352" cy="161902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E29352-B6B4-EB03-7A6C-47604E93CDFC}"/>
                  </a:ext>
                </a:extLst>
              </p:cNvPr>
              <p:cNvSpPr txBox="1"/>
              <p:nvPr/>
            </p:nvSpPr>
            <p:spPr>
              <a:xfrm>
                <a:off x="914400" y="2403278"/>
                <a:ext cx="1551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dirty="0"/>
                  <a:t>......</a:t>
                </a:r>
                <a:endParaRPr lang="LID4096" dirty="0"/>
              </a:p>
            </p:txBody>
          </p: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CFE8BC09-5359-8FCC-C6F9-DC28EA6ACF25}"/>
                  </a:ext>
                </a:extLst>
              </p:cNvPr>
              <p:cNvSpPr/>
              <p:nvPr/>
            </p:nvSpPr>
            <p:spPr>
              <a:xfrm>
                <a:off x="592667" y="1758759"/>
                <a:ext cx="209974" cy="866987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21E78F-3C32-ED3B-86E8-62E25678DDB2}"/>
                </a:ext>
              </a:extLst>
            </p:cNvPr>
            <p:cNvSpPr txBox="1"/>
            <p:nvPr/>
          </p:nvSpPr>
          <p:spPr>
            <a:xfrm>
              <a:off x="13547" y="2007586"/>
              <a:ext cx="684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e-IL" sz="1600" b="1" dirty="0"/>
                <a:t>312</a:t>
              </a:r>
              <a:endParaRPr lang="LID4096" sz="1600" b="1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02ABD11-BF1C-FC6A-8D4B-3404785B724B}"/>
              </a:ext>
            </a:extLst>
          </p:cNvPr>
          <p:cNvSpPr txBox="1"/>
          <p:nvPr/>
        </p:nvSpPr>
        <p:spPr>
          <a:xfrm>
            <a:off x="7262708" y="303319"/>
            <a:ext cx="5096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Dragon, computational data set for molecules</a:t>
            </a:r>
            <a:endParaRPr lang="LID4096" sz="1600" b="1" i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C54312-73B0-7455-D4A7-D47575F063E7}"/>
              </a:ext>
            </a:extLst>
          </p:cNvPr>
          <p:cNvGrpSpPr/>
          <p:nvPr/>
        </p:nvGrpSpPr>
        <p:grpSpPr>
          <a:xfrm>
            <a:off x="7626774" y="615072"/>
            <a:ext cx="3535681" cy="2327152"/>
            <a:chOff x="6096000" y="632794"/>
            <a:chExt cx="3535681" cy="232715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EE073D-8154-EE02-DEB1-807272EEA68C}"/>
                </a:ext>
              </a:extLst>
            </p:cNvPr>
            <p:cNvSpPr/>
            <p:nvPr/>
          </p:nvSpPr>
          <p:spPr>
            <a:xfrm>
              <a:off x="6929121" y="1025983"/>
              <a:ext cx="2702560" cy="19339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154EF2-7BC8-7A5A-FEAD-E7F778111E3B}"/>
                </a:ext>
              </a:extLst>
            </p:cNvPr>
            <p:cNvSpPr txBox="1"/>
            <p:nvPr/>
          </p:nvSpPr>
          <p:spPr>
            <a:xfrm>
              <a:off x="6096000" y="1758759"/>
              <a:ext cx="751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4065</a:t>
              </a:r>
              <a:endParaRPr lang="LID4096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BBFE7F0-54C0-6A8E-113B-5F6481DFE993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6471920" y="1025983"/>
              <a:ext cx="0" cy="732776"/>
            </a:xfrm>
            <a:prstGeom prst="line">
              <a:avLst/>
            </a:prstGeom>
            <a:ln>
              <a:head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4D16D01-8A4F-4A9D-C1F9-53D5F1E23825}"/>
                </a:ext>
              </a:extLst>
            </p:cNvPr>
            <p:cNvCxnSpPr>
              <a:cxnSpLocks/>
            </p:cNvCxnSpPr>
            <p:nvPr/>
          </p:nvCxnSpPr>
          <p:spPr>
            <a:xfrm>
              <a:off x="6475307" y="2176863"/>
              <a:ext cx="0" cy="732776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0639CA-50A6-A356-3BC1-7A60B6683023}"/>
                </a:ext>
              </a:extLst>
            </p:cNvPr>
            <p:cNvSpPr txBox="1"/>
            <p:nvPr/>
          </p:nvSpPr>
          <p:spPr>
            <a:xfrm>
              <a:off x="7850294" y="632794"/>
              <a:ext cx="751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2491</a:t>
              </a:r>
              <a:endParaRPr lang="LID4096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ABFB256-7952-404F-3104-869E78E58681}"/>
                </a:ext>
              </a:extLst>
            </p:cNvPr>
            <p:cNvCxnSpPr>
              <a:endCxn id="18" idx="1"/>
            </p:cNvCxnSpPr>
            <p:nvPr/>
          </p:nvCxnSpPr>
          <p:spPr>
            <a:xfrm>
              <a:off x="7003627" y="816539"/>
              <a:ext cx="846667" cy="921"/>
            </a:xfrm>
            <a:prstGeom prst="line">
              <a:avLst/>
            </a:prstGeom>
            <a:ln>
              <a:head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DBB57D-AE9A-228F-0262-EAEB02872050}"/>
                </a:ext>
              </a:extLst>
            </p:cNvPr>
            <p:cNvCxnSpPr>
              <a:cxnSpLocks/>
            </p:cNvCxnSpPr>
            <p:nvPr/>
          </p:nvCxnSpPr>
          <p:spPr>
            <a:xfrm>
              <a:off x="8602134" y="805810"/>
              <a:ext cx="1029547" cy="10729"/>
            </a:xfrm>
            <a:prstGeom prst="line">
              <a:avLst/>
            </a:prstGeom>
            <a:ln>
              <a:headEnd type="none"/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0D55DC2-302A-F4BE-342A-4F227F73679D}"/>
              </a:ext>
            </a:extLst>
          </p:cNvPr>
          <p:cNvSpPr txBox="1"/>
          <p:nvPr/>
        </p:nvSpPr>
        <p:spPr>
          <a:xfrm>
            <a:off x="426938" y="2942224"/>
            <a:ext cx="5520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Merge between target and feature -&gt; 282 molecules</a:t>
            </a:r>
            <a:endParaRPr lang="LID4096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FB2310-F4D4-D3DB-A3D6-B8E2BB03D4F2}"/>
              </a:ext>
            </a:extLst>
          </p:cNvPr>
          <p:cNvSpPr txBox="1"/>
          <p:nvPr/>
        </p:nvSpPr>
        <p:spPr>
          <a:xfrm>
            <a:off x="7626774" y="3429000"/>
            <a:ext cx="41173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Also, the  following predictors can be relevant:</a:t>
            </a:r>
            <a:endParaRPr lang="en-US" dirty="0"/>
          </a:p>
          <a:p>
            <a:r>
              <a:rPr lang="en-US" dirty="0"/>
              <a:t>~ vapor pressure (std. condition)</a:t>
            </a:r>
          </a:p>
          <a:p>
            <a:r>
              <a:rPr lang="en-US" dirty="0"/>
              <a:t>~ boiling point (std. condition)</a:t>
            </a:r>
          </a:p>
          <a:p>
            <a:endParaRPr lang="en-US" dirty="0"/>
          </a:p>
          <a:p>
            <a:r>
              <a:rPr lang="en-US" dirty="0"/>
              <a:t>~ Alpha-shape</a:t>
            </a:r>
          </a:p>
          <a:p>
            <a:r>
              <a:rPr lang="en-US" dirty="0"/>
              <a:t>~ </a:t>
            </a:r>
            <a:r>
              <a:rPr lang="en-US" dirty="0" err="1"/>
              <a:t>MLogP</a:t>
            </a:r>
            <a:endParaRPr lang="en-US" dirty="0"/>
          </a:p>
          <a:p>
            <a:r>
              <a:rPr lang="en-US" dirty="0"/>
              <a:t>~ </a:t>
            </a:r>
            <a:r>
              <a:rPr lang="en-US" dirty="0" err="1"/>
              <a:t>RDKit</a:t>
            </a:r>
            <a:r>
              <a:rPr lang="en-US" dirty="0"/>
              <a:t> Library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8AB37-3C76-F7DB-D673-F6869F499C8B}"/>
              </a:ext>
            </a:extLst>
          </p:cNvPr>
          <p:cNvSpPr txBox="1"/>
          <p:nvPr/>
        </p:nvSpPr>
        <p:spPr>
          <a:xfrm>
            <a:off x="7735711" y="38753"/>
            <a:ext cx="61919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400" dirty="0"/>
              <a:t>https://www.talete.mi.it/products/products.htm</a:t>
            </a:r>
          </a:p>
        </p:txBody>
      </p:sp>
    </p:spTree>
    <p:extLst>
      <p:ext uri="{BB962C8B-B14F-4D97-AF65-F5344CB8AC3E}">
        <p14:creationId xmlns:p14="http://schemas.microsoft.com/office/powerpoint/2010/main" val="2421359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526A6-647B-9228-2E1E-E555301C5767}"/>
              </a:ext>
            </a:extLst>
          </p:cNvPr>
          <p:cNvSpPr txBox="1"/>
          <p:nvPr/>
        </p:nvSpPr>
        <p:spPr>
          <a:xfrm>
            <a:off x="523875" y="342900"/>
            <a:ext cx="1030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Distribution of Imax </a:t>
            </a:r>
            <a:endParaRPr lang="LID4096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40479-1B43-32B0-A531-AEA344E4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278456"/>
            <a:ext cx="5805489" cy="4671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8DDB2-F23D-D2CE-98C9-CC3CE7116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901" y="1376419"/>
            <a:ext cx="4376738" cy="44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0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55919-B6B2-BD82-E3F7-0C44994F6151}"/>
              </a:ext>
            </a:extLst>
          </p:cNvPr>
          <p:cNvSpPr txBox="1"/>
          <p:nvPr/>
        </p:nvSpPr>
        <p:spPr>
          <a:xfrm>
            <a:off x="499352" y="415047"/>
            <a:ext cx="10745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Features Engineering :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Merge between target (Waka data set) and Features matrix - &gt; 30 sample drops, we stay with 282 samples</a:t>
            </a:r>
          </a:p>
          <a:p>
            <a:pPr marL="342900" indent="-342900">
              <a:buAutoNum type="arabicParenR"/>
            </a:pPr>
            <a:r>
              <a:rPr lang="en-US" dirty="0"/>
              <a:t>Dropping of features with zero variance</a:t>
            </a:r>
          </a:p>
          <a:p>
            <a:pPr marL="342900" indent="-342900">
              <a:buAutoNum type="arabicParenR"/>
            </a:pPr>
            <a:r>
              <a:rPr lang="en-US" dirty="0"/>
              <a:t>Dropping of features with correlation above 0.95  -&gt; stay with 834 features from initial 2491</a:t>
            </a:r>
          </a:p>
          <a:p>
            <a:pPr marL="342900" indent="-342900">
              <a:buAutoNum type="arabicParenR"/>
            </a:pPr>
            <a:r>
              <a:rPr lang="en-US" dirty="0"/>
              <a:t>Running of XGBOOST for features importance (not tunned, and not CV-ed)</a:t>
            </a:r>
          </a:p>
          <a:p>
            <a:pPr marL="342900" indent="-342900">
              <a:buAutoNum type="arabicParenR"/>
            </a:pPr>
            <a:r>
              <a:rPr lang="en-US" dirty="0"/>
              <a:t>Selection of the top 71 features</a:t>
            </a:r>
          </a:p>
          <a:p>
            <a:pPr marL="342900" indent="-342900">
              <a:buAutoNum type="arabicParenR"/>
            </a:pPr>
            <a:r>
              <a:rPr lang="en-US" dirty="0"/>
              <a:t>Comprehensive GridSearch - &gt; selection of best params - &gt; Cross Validated prediction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66EB83-5575-DDC0-CD9C-65865F6C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90" y="2997606"/>
            <a:ext cx="5352145" cy="35782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9DC02D-AB89-450C-9EF0-E2AE555F9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196" y="2980304"/>
            <a:ext cx="5617452" cy="37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4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FF1BB7-A08F-30DB-6BA7-D0C1905A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686" y="974951"/>
            <a:ext cx="5619069" cy="57455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CF69EB-9044-6DA3-A67D-60DEBA86CAB2}"/>
              </a:ext>
            </a:extLst>
          </p:cNvPr>
          <p:cNvSpPr txBox="1"/>
          <p:nvPr/>
        </p:nvSpPr>
        <p:spPr>
          <a:xfrm>
            <a:off x="476931" y="278986"/>
            <a:ext cx="71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Dummy predictor as a base-line for comparison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368359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B7C449-7CC1-F8E6-6F11-DA9D8F98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0" y="1063345"/>
            <a:ext cx="5461730" cy="5595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4CE599-ABDD-1BEB-D5EE-7174F87E6BD6}"/>
              </a:ext>
            </a:extLst>
          </p:cNvPr>
          <p:cNvSpPr txBox="1"/>
          <p:nvPr/>
        </p:nvSpPr>
        <p:spPr>
          <a:xfrm>
            <a:off x="348343" y="232348"/>
            <a:ext cx="11553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CV Prediction on 5 folds, on top 71 Dragon features set</a:t>
            </a:r>
            <a:endParaRPr lang="LID4096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7E8A0-D5FC-3FDC-A023-0ADAA19A2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320" y="3028858"/>
            <a:ext cx="3888870" cy="3515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0E8E31-25F3-D5DA-8C78-60B31469C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656" y="746296"/>
            <a:ext cx="3147841" cy="216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2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E60B6F-CADC-FE76-1467-EFF702F0740B}"/>
              </a:ext>
            </a:extLst>
          </p:cNvPr>
          <p:cNvSpPr txBox="1"/>
          <p:nvPr/>
        </p:nvSpPr>
        <p:spPr>
          <a:xfrm>
            <a:off x="408562" y="402077"/>
            <a:ext cx="11199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71 descriptors selected by XGBOOST: </a:t>
            </a:r>
          </a:p>
          <a:p>
            <a:endParaRPr lang="en-US" dirty="0"/>
          </a:p>
          <a:p>
            <a:r>
              <a:rPr lang="" sz="1200" dirty="0"/>
              <a:t>['ATS6m', 'Vindex', 'RDF015s', 'MPC08', 'SpMaxA_AEA_dm_', 'Eig07_AEA_dm_', 'RDF065s', 'SpMax6_Bh_s_', 'ATS5m', 'HATS0v', 'SpPosA_RG', 'GGI6', 'Mor08m', 'VE3_RG', 'VE2_B_m_', 'Eta_betaS_A', 'SM11_AEA_bo_', 'RDF010s', 'H2v', 'Mor03v', 'SpMax7_Bh_s_', 'RDF050m', 'Mor11u', 'ChiA_B_m_', 'VE3sign_B_v_', 'G2m', 'SM12_AEA_bo_', 'R6u', 'HATS8m', 'ATSC8e', 'TDB01m', 'SpMax2_Bh_s_', 'RDF025s', 'Mor05m', 'ZM1Mad', 'HGM', 'TDB10u', 'ATSC6m', 'Mor11v', 'Mor05v', 'GGI3', 'Am', 'Mor07m', 'VE1sign_B_v_', 'R5s', 'H3u', 'AVS_B_s_', 'SpMax6_Bh_m_', 'SM09_AEA_dm_', 'H6s', 'Mor04v', 'MATS1e', 'SpMin1_Bh_s_', 'RDF025u', 'Mor29u', 'JGI2', 'H7s', 'ATSC1e', 'MATS1v', 'Mor13m', 'HATS0p', 'VAR', 'R6v', 'TDB06m', 'Gm', 'RDF060m', 'SsOH', 'Mor11p', 'Mor03s', 'Mor10s', 'Mor32v']</a:t>
            </a:r>
            <a:endParaRPr lang="LID4096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8392B-3B5B-9A3B-DA5E-94F6CE4B8EF8}"/>
              </a:ext>
            </a:extLst>
          </p:cNvPr>
          <p:cNvSpPr txBox="1"/>
          <p:nvPr/>
        </p:nvSpPr>
        <p:spPr>
          <a:xfrm>
            <a:off x="408562" y="2480993"/>
            <a:ext cx="428665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Strongly represented: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3D molecular shape and geometry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Molecular size and bulk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Electronic structure and charge distribution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Branching and topological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Mass-weighted structural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Hydrogen-bonding functionality</a:t>
            </a:r>
            <a:endParaRPr lang="en-US" dirty="0"/>
          </a:p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12D3A-CD2A-AF92-E206-0070A8365170}"/>
              </a:ext>
            </a:extLst>
          </p:cNvPr>
          <p:cNvSpPr txBox="1"/>
          <p:nvPr/>
        </p:nvSpPr>
        <p:spPr>
          <a:xfrm>
            <a:off x="6361889" y="3714557"/>
            <a:ext cx="56485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dirty="0"/>
              <a:t>Maximum odor intensity appears to be driven mainly by molecular 3D shape, size, topology, and electronic structure, whereas classical descriptors such as LogP, PSA, and simple hydrogen-bond counts were not identified as major predictors.</a:t>
            </a:r>
            <a:endParaRPr lang="LID4096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01F3145-C6F4-5A82-9D8C-20DDB0AABE5C}"/>
              </a:ext>
            </a:extLst>
          </p:cNvPr>
          <p:cNvSpPr/>
          <p:nvPr/>
        </p:nvSpPr>
        <p:spPr>
          <a:xfrm>
            <a:off x="5064868" y="4312596"/>
            <a:ext cx="953311" cy="168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8925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BAA38-63BC-936A-A392-40C9C21022EC}"/>
              </a:ext>
            </a:extLst>
          </p:cNvPr>
          <p:cNvSpPr txBox="1"/>
          <p:nvPr/>
        </p:nvSpPr>
        <p:spPr>
          <a:xfrm>
            <a:off x="541867" y="399627"/>
            <a:ext cx="9990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Imputing of Vapor Pressure – theoretically should improve Imax prediction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D7B89-6891-63DB-5BF1-62348BA4E724}"/>
              </a:ext>
            </a:extLst>
          </p:cNvPr>
          <p:cNvSpPr txBox="1"/>
          <p:nvPr/>
        </p:nvSpPr>
        <p:spPr>
          <a:xfrm>
            <a:off x="541867" y="768959"/>
            <a:ext cx="11494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succeeded to retrieve 416 molecules with experimental data for VP from </a:t>
            </a:r>
            <a:r>
              <a:rPr lang="en-US" dirty="0" err="1"/>
              <a:t>Pubchem</a:t>
            </a:r>
            <a:r>
              <a:rPr lang="en-US" dirty="0"/>
              <a:t>, only 66 were from Wakayama dataset.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BB98D-7539-AEDC-B889-D623E61A9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66" y="2094806"/>
            <a:ext cx="7365516" cy="399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4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C442AF-0FE3-ED24-7BE0-15559A32BD90}"/>
              </a:ext>
            </a:extLst>
          </p:cNvPr>
          <p:cNvSpPr txBox="1"/>
          <p:nvPr/>
        </p:nvSpPr>
        <p:spPr>
          <a:xfrm>
            <a:off x="461740" y="191239"/>
            <a:ext cx="924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Imputing of Boiling point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22C23-D392-98C5-FBB5-376334C3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86" y="560571"/>
            <a:ext cx="4714672" cy="3211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8CA29D-828B-48AB-C9D8-A333AEE8E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84" y="742349"/>
            <a:ext cx="5300442" cy="5373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2633AE-D7B9-DDD7-4C40-E1BFECAB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81" y="3603553"/>
            <a:ext cx="4012266" cy="31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09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F1521-98DE-D5D1-4804-917C3A0AC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3" y="768029"/>
            <a:ext cx="4557214" cy="551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10D9B6-B697-FAF9-E335-809652E79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13" y="1466057"/>
            <a:ext cx="4488910" cy="5118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DCF642-64C2-1883-26A9-64FB0A05455F}"/>
              </a:ext>
            </a:extLst>
          </p:cNvPr>
          <p:cNvSpPr txBox="1"/>
          <p:nvPr/>
        </p:nvSpPr>
        <p:spPr>
          <a:xfrm>
            <a:off x="682052" y="149902"/>
            <a:ext cx="8581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Additional Molecules features from </a:t>
            </a:r>
            <a:r>
              <a:rPr lang="en-US" sz="2800" b="1" dirty="0" err="1"/>
              <a:t>RDKit</a:t>
            </a:r>
            <a:endParaRPr lang="LID4096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0671D1-E983-6B46-5B7D-1537A74A89B1}"/>
              </a:ext>
            </a:extLst>
          </p:cNvPr>
          <p:cNvGrpSpPr/>
          <p:nvPr/>
        </p:nvGrpSpPr>
        <p:grpSpPr>
          <a:xfrm>
            <a:off x="5553017" y="765421"/>
            <a:ext cx="6433009" cy="2663579"/>
            <a:chOff x="5553017" y="765421"/>
            <a:chExt cx="6433009" cy="26635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652C15-5E9F-D9BA-52D1-C28863634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3017" y="765421"/>
              <a:ext cx="6000619" cy="266357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8D2ECCA-3635-64C4-4CDC-19B72EDF4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9980" y="1446356"/>
              <a:ext cx="2216046" cy="177076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3586142-3F00-9790-8516-35BFF5D1CCC9}"/>
              </a:ext>
            </a:extLst>
          </p:cNvPr>
          <p:cNvSpPr txBox="1"/>
          <p:nvPr/>
        </p:nvSpPr>
        <p:spPr>
          <a:xfrm>
            <a:off x="5420382" y="4639455"/>
            <a:ext cx="64157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/>
              <a:t>RDKit is an open-source cheminformatics toolkit that converts molecular structures into numerical descriptors representing properties such as molecular size, shape, topology, polarity, and hydrogen-bonding ability. These descriptors can then be used as input features for machine learning models.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56261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972E1-C98D-4CED-76C8-534D209ACC69}"/>
              </a:ext>
            </a:extLst>
          </p:cNvPr>
          <p:cNvSpPr txBox="1"/>
          <p:nvPr/>
        </p:nvSpPr>
        <p:spPr>
          <a:xfrm>
            <a:off x="433387" y="307298"/>
            <a:ext cx="500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Results for Wakayama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9BD63-B55A-BB57-1DB9-ECCFF715D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623887"/>
            <a:ext cx="113252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27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E2FD6-2DFC-A969-5F04-36B551760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6" y="1285211"/>
            <a:ext cx="5537680" cy="4173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00DFF4-402B-AFFB-A1D9-A9B6B2E2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85211"/>
            <a:ext cx="5537680" cy="4173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89145-5B20-CAD8-D5CC-4858ABCAB374}"/>
              </a:ext>
            </a:extLst>
          </p:cNvPr>
          <p:cNvSpPr txBox="1"/>
          <p:nvPr/>
        </p:nvSpPr>
        <p:spPr>
          <a:xfrm>
            <a:off x="779721" y="382772"/>
            <a:ext cx="3969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Residuals analysis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3085309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5584A-2C70-D074-C19F-DA172279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67" y="279519"/>
            <a:ext cx="3734323" cy="3329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57811C-F5C8-2620-A4F6-EF048EA45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75" y="356657"/>
            <a:ext cx="3715808" cy="3252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66DC3-40BE-546C-5883-46F995155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867" y="3740424"/>
            <a:ext cx="3525973" cy="3085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B92B6E-0F2F-7F47-7F78-B7D67654E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475" y="3740424"/>
            <a:ext cx="3373435" cy="3085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CDC19F-8508-6170-60B5-E54576F7C4F0}"/>
              </a:ext>
            </a:extLst>
          </p:cNvPr>
          <p:cNvSpPr txBox="1"/>
          <p:nvPr/>
        </p:nvSpPr>
        <p:spPr>
          <a:xfrm>
            <a:off x="423333" y="356657"/>
            <a:ext cx="303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UMAP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3040413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F3F30-AF49-D40E-A202-9F59F199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8" y="1251463"/>
            <a:ext cx="2534648" cy="1414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77751-B6D3-6679-E684-E2ECAD4E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98" y="3175971"/>
            <a:ext cx="3672040" cy="672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D67202-A306-3D17-37F9-A39C7E64E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731" y="2102966"/>
            <a:ext cx="4800326" cy="4622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9F18E-CC6D-E85C-0655-882085C34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98" y="4168473"/>
            <a:ext cx="4287934" cy="1715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395089-F171-EE0A-1660-8A2369E03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313" y="1251463"/>
            <a:ext cx="3804602" cy="1604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0BBE85-9124-EB89-8AA4-94D7E45698AF}"/>
              </a:ext>
            </a:extLst>
          </p:cNvPr>
          <p:cNvSpPr txBox="1"/>
          <p:nvPr/>
        </p:nvSpPr>
        <p:spPr>
          <a:xfrm>
            <a:off x="468086" y="402771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Classification with XGBOOST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1241119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6F656-5E9A-9F03-A91C-9FA1DE1E8958}"/>
              </a:ext>
            </a:extLst>
          </p:cNvPr>
          <p:cNvSpPr txBox="1"/>
          <p:nvPr/>
        </p:nvSpPr>
        <p:spPr>
          <a:xfrm>
            <a:off x="487600" y="0"/>
            <a:ext cx="10554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Main trials to improve the results</a:t>
            </a:r>
            <a:endParaRPr lang="LID4096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E99A17-3295-BCC8-0EFC-E24AE1AE5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946576"/>
              </p:ext>
            </p:extLst>
          </p:nvPr>
        </p:nvGraphicFramePr>
        <p:xfrm>
          <a:off x="568840" y="462465"/>
          <a:ext cx="10659380" cy="624397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49896">
                  <a:extLst>
                    <a:ext uri="{9D8B030D-6E8A-4147-A177-3AD203B41FA5}">
                      <a16:colId xmlns:a16="http://schemas.microsoft.com/office/drawing/2014/main" val="3879606949"/>
                    </a:ext>
                  </a:extLst>
                </a:gridCol>
                <a:gridCol w="2442197">
                  <a:extLst>
                    <a:ext uri="{9D8B030D-6E8A-4147-A177-3AD203B41FA5}">
                      <a16:colId xmlns:a16="http://schemas.microsoft.com/office/drawing/2014/main" val="2217900553"/>
                    </a:ext>
                  </a:extLst>
                </a:gridCol>
                <a:gridCol w="2067287">
                  <a:extLst>
                    <a:ext uri="{9D8B030D-6E8A-4147-A177-3AD203B41FA5}">
                      <a16:colId xmlns:a16="http://schemas.microsoft.com/office/drawing/2014/main" val="2236560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Hypothesis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Bast MAE (LMS)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138366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Dummy (strategy = ‘mean’)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12.137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-0.008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361843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Dragon top 71 features -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7.51 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0.62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021299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 + log(VP) -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7.69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159190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 + log(VP) + BP -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7.77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301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Only log(VP) -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9.97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218464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71 features -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7.59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0.62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36125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71 features + log(VP) + BP +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RDKit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(20)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7.37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126205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Umap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as additional features 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7.71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53074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Random forest 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7.76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0.60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74907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SVR Kernel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8.04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004484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Gaussian Process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7.94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120116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Stacking + GPR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7.71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08325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Tail specialist regressors (Separate regressors for low/high tails)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7.57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58971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Tail residual experts (Correct only low/high intensity molecules)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7.53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0.62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661493"/>
                  </a:ext>
                </a:extLst>
              </a:tr>
              <a:tr h="3959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residual learning (Predict residual from classifier outputs)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7.53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0.62</a:t>
                      </a:r>
                      <a:endParaRPr lang="LID4096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79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263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8B8EC-12C2-8C32-BDF2-4871C7C52BDD}"/>
              </a:ext>
            </a:extLst>
          </p:cNvPr>
          <p:cNvSpPr txBox="1"/>
          <p:nvPr/>
        </p:nvSpPr>
        <p:spPr>
          <a:xfrm>
            <a:off x="609600" y="626533"/>
            <a:ext cx="108204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/>
              <a:t>Main findings</a:t>
            </a:r>
          </a:p>
          <a:p>
            <a:endParaRPr lang="" b="1" dirty="0"/>
          </a:p>
          <a:p>
            <a:r>
              <a:rPr lang="" b="1" dirty="0"/>
              <a:t>Best model:</a:t>
            </a:r>
            <a:r>
              <a:rPr lang="" dirty="0"/>
              <a:t> XGBoost + optimized Dragon/RDKit descriptors (</a:t>
            </a:r>
            <a:r>
              <a:rPr lang="" b="1" dirty="0"/>
              <a:t>MAE = 7.37</a:t>
            </a:r>
            <a:r>
              <a:rPr lang="" dirty="0"/>
              <a:t>, </a:t>
            </a:r>
            <a:r>
              <a:rPr lang="" b="1" dirty="0"/>
              <a:t>R² = 0.63</a:t>
            </a:r>
            <a:r>
              <a:rPr lang="" dirty="0"/>
              <a:t>).</a:t>
            </a:r>
          </a:p>
          <a:p>
            <a:pPr>
              <a:lnSpc>
                <a:spcPct val="150000"/>
              </a:lnSpc>
            </a:pPr>
            <a:r>
              <a:rPr lang="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RDKit descriptors provided the most meaningful improvement beyond Dragon descriptors.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Volatility-related features (log vapor pressure, boiling point) did not improve the final optimized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Alternative regressors (CatBoost, Random Forest, Extra Trees, SVR, Gaussian Process) did not outperform XGBoost.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Ensemble learning (stacking, residual experts, tail experts) produced little or no additional improvement.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UMAP revealed a clear chemical-intensity manifold, but its coordinates did not improve prediction accuracy.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" dirty="0"/>
              <a:t>Remaining errors are concentrated at the </a:t>
            </a:r>
            <a:r>
              <a:rPr lang="" b="1" dirty="0"/>
              <a:t>low and high intensity tails</a:t>
            </a:r>
            <a:r>
              <a:rPr lang="" dirty="0"/>
              <a:t>, suggesting that the current limitation is likely due to dataset complexity and/or psychophysical variability rather than the regression algorithm itself.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20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9527C-320E-8C56-9BD4-4212ADD22E52}"/>
              </a:ext>
            </a:extLst>
          </p:cNvPr>
          <p:cNvSpPr txBox="1"/>
          <p:nvPr/>
        </p:nvSpPr>
        <p:spPr>
          <a:xfrm>
            <a:off x="471253" y="299335"/>
            <a:ext cx="778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additional experimental data set, with more evaluations. All the evaluations are made by single perfumer during time period of 2-3 years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FF76C-8C6C-DCDD-D2F5-8D55DF7F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7" y="1466459"/>
            <a:ext cx="53625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5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85324-8AF6-F972-756F-B7F3FCA5E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23" y="1475906"/>
            <a:ext cx="5634975" cy="3606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FBF47-5F33-F7F6-FC30-1CDF93BC8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039" y="1093370"/>
            <a:ext cx="5001328" cy="5030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17A5DD-A986-8219-6613-F614C187CB48}"/>
              </a:ext>
            </a:extLst>
          </p:cNvPr>
          <p:cNvSpPr txBox="1"/>
          <p:nvPr/>
        </p:nvSpPr>
        <p:spPr>
          <a:xfrm>
            <a:off x="682051" y="404734"/>
            <a:ext cx="7262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XGBOOST CV prediction of Imax based on top 165 features</a:t>
            </a:r>
            <a:endParaRPr lang="LID4096" sz="2000" b="1" dirty="0"/>
          </a:p>
        </p:txBody>
      </p:sp>
    </p:spTree>
    <p:extLst>
      <p:ext uri="{BB962C8B-B14F-4D97-AF65-F5344CB8AC3E}">
        <p14:creationId xmlns:p14="http://schemas.microsoft.com/office/powerpoint/2010/main" val="221462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54FCE-11CD-05A3-4862-A8BF58F7E65F}"/>
              </a:ext>
            </a:extLst>
          </p:cNvPr>
          <p:cNvSpPr txBox="1"/>
          <p:nvPr/>
        </p:nvSpPr>
        <p:spPr>
          <a:xfrm>
            <a:off x="968829" y="457200"/>
            <a:ext cx="101454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Possible steps for future research: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Look for additional relevant features (interaction between molecules and olfactory receptors)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Predict Di (steepness) and Ci (half intensity concentration)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Predict the full intensity curve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the clean and expanded database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5CB60-E2FE-E5D8-A959-C0BA8D9504BE}"/>
              </a:ext>
            </a:extLst>
          </p:cNvPr>
          <p:cNvSpPr txBox="1"/>
          <p:nvPr/>
        </p:nvSpPr>
        <p:spPr>
          <a:xfrm>
            <a:off x="2645229" y="3923200"/>
            <a:ext cx="9666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 for your attention!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9681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E034A81636BF4191134986BD4BF0FC" ma:contentTypeVersion="18" ma:contentTypeDescription="Create a new document." ma:contentTypeScope="" ma:versionID="2703cb2241a2b939b7334c03fb9f533e">
  <xsd:schema xmlns:xsd="http://www.w3.org/2001/XMLSchema" xmlns:xs="http://www.w3.org/2001/XMLSchema" xmlns:p="http://schemas.microsoft.com/office/2006/metadata/properties" xmlns:ns2="fc8719d5-a7d3-4ce2-a42c-5dc8ae5b02b5" xmlns:ns3="8a305f76-35c7-4bc6-8d22-97b26a027996" targetNamespace="http://schemas.microsoft.com/office/2006/metadata/properties" ma:root="true" ma:fieldsID="1cc8a7701fed31646cd7d9e4eee1cc98" ns2:_="" ns3:_="">
    <xsd:import namespace="fc8719d5-a7d3-4ce2-a42c-5dc8ae5b02b5"/>
    <xsd:import namespace="8a305f76-35c7-4bc6-8d22-97b26a0279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719d5-a7d3-4ce2-a42c-5dc8ae5b02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59ceb3c-f586-4bbb-beb2-26f1ca5e32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305f76-35c7-4bc6-8d22-97b26a02799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ceac21-5a26-4d4f-a4d8-4df0d55b3c64}" ma:internalName="TaxCatchAll" ma:showField="CatchAllData" ma:web="8a305f76-35c7-4bc6-8d22-97b26a0279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305f76-35c7-4bc6-8d22-97b26a027996" xsi:nil="true"/>
    <lcf76f155ced4ddcb4097134ff3c332f xmlns="fc8719d5-a7d3-4ce2-a42c-5dc8ae5b02b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47E4A6-EECD-48D6-97CD-4B58B591E7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8719d5-a7d3-4ce2-a42c-5dc8ae5b02b5"/>
    <ds:schemaRef ds:uri="8a305f76-35c7-4bc6-8d22-97b26a0279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BB157B-7E7B-435D-849B-C7932CB2F0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7670FB-9B39-447E-BE90-063F66B83D40}">
  <ds:schemaRefs>
    <ds:schemaRef ds:uri="http://schemas.microsoft.com/office/2006/metadata/properties"/>
    <ds:schemaRef ds:uri="http://schemas.microsoft.com/office/infopath/2007/PartnerControls"/>
    <ds:schemaRef ds:uri="8a305f76-35c7-4bc6-8d22-97b26a027996"/>
    <ds:schemaRef ds:uri="fc8719d5-a7d3-4ce2-a42c-5dc8ae5b02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17737</TotalTime>
  <Words>2002</Words>
  <Application>Microsoft Office PowerPoint</Application>
  <PresentationFormat>Widescreen</PresentationFormat>
  <Paragraphs>232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 Kiriyevsky</dc:creator>
  <cp:lastModifiedBy>Kiril Kiriyevsky</cp:lastModifiedBy>
  <cp:revision>19</cp:revision>
  <dcterms:created xsi:type="dcterms:W3CDTF">2026-06-13T05:11:22Z</dcterms:created>
  <dcterms:modified xsi:type="dcterms:W3CDTF">2026-07-01T09:26:07Z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0x01010003E034A81636BF4191134986BD4BF0FC</vt:lpwstr>
  </property>
  <property fmtid="{D5CDD505-2E9C-101B-9397-08002B2CF9AE}" pid="3" name="MediaServiceImageTags">
    <vt:lpwstr/>
  </property>
</Properties>
</file>